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2da1ba408e41db" /><Relationship Type="http://schemas.openxmlformats.org/officeDocument/2006/relationships/extended-properties" Target="/docProps/app.xml" Id="R483f566ce97940a2" /><Relationship Type="http://schemas.openxmlformats.org/officeDocument/2006/relationships/officeDocument" Target="/ppt/presentation.xml" Id="R1a7df811ed4c453c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dddbb1e5e6264101"/>
  </p:sldMasterIdLst>
  <p:notesMasterIdLst>
    <p:notesMasterId xmlns:r="http://schemas.openxmlformats.org/officeDocument/2006/relationships" r:id="R0619d6d4f89842d1"/>
  </p:notesMasterIdLst>
  <p:sldIdLst>
    <p:sldId xmlns:r="http://schemas.openxmlformats.org/officeDocument/2006/relationships" id="256" r:id="R299c6d0c94c2414c"/>
    <p:sldId xmlns:r="http://schemas.openxmlformats.org/officeDocument/2006/relationships" id="257" r:id="Rf650fbd110eb41c2"/>
    <p:sldId xmlns:r="http://schemas.openxmlformats.org/officeDocument/2006/relationships" id="258" r:id="R478eb33bb83a47d0"/>
    <p:sldId xmlns:r="http://schemas.openxmlformats.org/officeDocument/2006/relationships" id="259" r:id="Rb4acb89efdff4602"/>
    <p:sldId xmlns:r="http://schemas.openxmlformats.org/officeDocument/2006/relationships" id="260" r:id="R3d496af1b6984863"/>
    <p:sldId xmlns:r="http://schemas.openxmlformats.org/officeDocument/2006/relationships" id="261" r:id="R5f65c15b6ef546b3"/>
    <p:sldId xmlns:r="http://schemas.openxmlformats.org/officeDocument/2006/relationships" id="262" r:id="Rf2e2cb89e7a04d21"/>
    <p:sldId xmlns:r="http://schemas.openxmlformats.org/officeDocument/2006/relationships" id="263" r:id="R8d6cf28da21f44c0"/>
    <p:sldId xmlns:r="http://schemas.openxmlformats.org/officeDocument/2006/relationships" id="264" r:id="R63854fe60b814ad8"/>
    <p:sldId xmlns:r="http://schemas.openxmlformats.org/officeDocument/2006/relationships" id="265" r:id="R9f6358db32a24e3f"/>
    <p:sldId xmlns:r="http://schemas.openxmlformats.org/officeDocument/2006/relationships" id="266" r:id="R9afbcfa1bc9546a8"/>
    <p:sldId xmlns:r="http://schemas.openxmlformats.org/officeDocument/2006/relationships" id="267" r:id="R243b4942550d4a7d"/>
    <p:sldId xmlns:r="http://schemas.openxmlformats.org/officeDocument/2006/relationships" id="268" r:id="Rb97e9f06bd7748d9"/>
    <p:sldId xmlns:r="http://schemas.openxmlformats.org/officeDocument/2006/relationships" id="269" r:id="R513eb57204ec4452"/>
  </p:sldIdLst>
  <p:sldSz cx="12192000" cy="6858000"/>
  <p:notesSz cx="6858000" cy="9144000"/>
  <p:embeddedFontLst>
    <p:embeddedFont>
      <p:font typeface="Lora"/>
      <p:regular xmlns:r="http://schemas.openxmlformats.org/officeDocument/2006/relationships" r:id="R46a15ef01ebb4c58"/>
      <p:bold xmlns:r="http://schemas.openxmlformats.org/officeDocument/2006/relationships" r:id="R16b7e66ee2864bd1"/>
      <p:italic xmlns:r="http://schemas.openxmlformats.org/officeDocument/2006/relationships" r:id="R12f6ad3d56504652"/>
      <p:boldItalic xmlns:r="http://schemas.openxmlformats.org/officeDocument/2006/relationships" r:id="R56267d83c8864c0e"/>
    </p:embeddedFont>
    <p:embeddedFont>
      <p:font typeface="Roboto"/>
      <p:regular xmlns:r="http://schemas.openxmlformats.org/officeDocument/2006/relationships" r:id="Rb22d36f7b8ec4c59"/>
      <p:bold xmlns:r="http://schemas.openxmlformats.org/officeDocument/2006/relationships" r:id="Rfadd5b993ce94b7d"/>
      <p:italic xmlns:r="http://schemas.openxmlformats.org/officeDocument/2006/relationships" r:id="R00820be1c6ba44a2"/>
      <p:boldItalic xmlns:r="http://schemas.openxmlformats.org/officeDocument/2006/relationships" r:id="R2bfd97fb5a2b4dd6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c90024f8f0114ec0"/><Relationship Type="http://schemas.openxmlformats.org/officeDocument/2006/relationships/slideMaster" Target="/ppt/slideMasters/slideMaster1.xml" Id="Rdddbb1e5e6264101"/><Relationship Type="http://schemas.openxmlformats.org/officeDocument/2006/relationships/notesMaster" Target="/ppt/notesMasters/notesMaster1.xml" Id="R0619d6d4f89842d1"/><Relationship Type="http://schemas.openxmlformats.org/officeDocument/2006/relationships/presProps" Target="/ppt/presProps.xml" Id="R4f548878ea9d4e83"/><Relationship Type="http://schemas.openxmlformats.org/officeDocument/2006/relationships/viewProps" Target="/ppt/viewProps.xml" Id="R27541ed3c0654d79"/><Relationship Type="http://schemas.openxmlformats.org/officeDocument/2006/relationships/tableStyles" Target="/ppt/tableStyles.xml" Id="R01329a0bf1684666"/><Relationship Type="http://schemas.openxmlformats.org/officeDocument/2006/relationships/font" Target="/ppt/fonts/font.dat" Id="R46a15ef01ebb4c58"/><Relationship Type="http://schemas.openxmlformats.org/officeDocument/2006/relationships/font" Target="/ppt/fonts/font2.dat" Id="R16b7e66ee2864bd1"/><Relationship Type="http://schemas.openxmlformats.org/officeDocument/2006/relationships/font" Target="/ppt/fonts/font3.dat" Id="R12f6ad3d56504652"/><Relationship Type="http://schemas.openxmlformats.org/officeDocument/2006/relationships/font" Target="/ppt/fonts/font4.dat" Id="R56267d83c8864c0e"/><Relationship Type="http://schemas.openxmlformats.org/officeDocument/2006/relationships/font" Target="/ppt/fonts/font9.dat" Id="Rb22d36f7b8ec4c59"/><Relationship Type="http://schemas.openxmlformats.org/officeDocument/2006/relationships/font" Target="/ppt/fonts/font10.dat" Id="Rfadd5b993ce94b7d"/><Relationship Type="http://schemas.openxmlformats.org/officeDocument/2006/relationships/font" Target="/ppt/fonts/font11.dat" Id="R00820be1c6ba44a2"/><Relationship Type="http://schemas.openxmlformats.org/officeDocument/2006/relationships/font" Target="/ppt/fonts/font12.dat" Id="R2bfd97fb5a2b4dd6"/><Relationship Type="http://schemas.openxmlformats.org/officeDocument/2006/relationships/slide" Target="/ppt/slides/slide1.xml" Id="R299c6d0c94c2414c"/><Relationship Type="http://schemas.openxmlformats.org/officeDocument/2006/relationships/slide" Target="/ppt/slides/slide2.xml" Id="Rf650fbd110eb41c2"/><Relationship Type="http://schemas.openxmlformats.org/officeDocument/2006/relationships/slide" Target="/ppt/slides/slide3.xml" Id="R478eb33bb83a47d0"/><Relationship Type="http://schemas.openxmlformats.org/officeDocument/2006/relationships/slide" Target="/ppt/slides/slide4.xml" Id="Rb4acb89efdff4602"/><Relationship Type="http://schemas.openxmlformats.org/officeDocument/2006/relationships/slide" Target="/ppt/slides/slide5.xml" Id="R3d496af1b6984863"/><Relationship Type="http://schemas.openxmlformats.org/officeDocument/2006/relationships/slide" Target="/ppt/slides/slide6.xml" Id="R5f65c15b6ef546b3"/><Relationship Type="http://schemas.openxmlformats.org/officeDocument/2006/relationships/slide" Target="/ppt/slides/slide7.xml" Id="Rf2e2cb89e7a04d21"/><Relationship Type="http://schemas.openxmlformats.org/officeDocument/2006/relationships/slide" Target="/ppt/slides/slide8.xml" Id="R8d6cf28da21f44c0"/><Relationship Type="http://schemas.openxmlformats.org/officeDocument/2006/relationships/slide" Target="/ppt/slides/slide9.xml" Id="R63854fe60b814ad8"/><Relationship Type="http://schemas.openxmlformats.org/officeDocument/2006/relationships/slide" Target="/ppt/slides/slide10.xml" Id="R9f6358db32a24e3f"/><Relationship Type="http://schemas.openxmlformats.org/officeDocument/2006/relationships/slide" Target="/ppt/slides/slide11.xml" Id="R9afbcfa1bc9546a8"/><Relationship Type="http://schemas.openxmlformats.org/officeDocument/2006/relationships/slide" Target="/ppt/slides/slide12.xml" Id="R243b4942550d4a7d"/><Relationship Type="http://schemas.openxmlformats.org/officeDocument/2006/relationships/slide" Target="/ppt/slides/slide13.xml" Id="Rb97e9f06bd7748d9"/><Relationship Type="http://schemas.openxmlformats.org/officeDocument/2006/relationships/slide" Target="/ppt/slides/slide14.xml" Id="R513eb57204ec4452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583efd3cb944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Finans RAG Theme">
  <a:themeElements>
    <a:clrScheme name="Finans RAG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Finans RAG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e7ccddf6914e1e" /><Relationship Type="http://schemas.openxmlformats.org/officeDocument/2006/relationships/notesMaster" Target="/ppt/notesMasters/notesMaster1.xml" Id="R388f5c1a729f42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1f6b2352bd497e" /><Relationship Type="http://schemas.openxmlformats.org/officeDocument/2006/relationships/notesMaster" Target="/ppt/notesMasters/notesMaster1.xml" Id="R522d39bd6c4c46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ae67e72d994a0c" /><Relationship Type="http://schemas.openxmlformats.org/officeDocument/2006/relationships/notesMaster" Target="/ppt/notesMasters/notesMaster1.xml" Id="Ra2fe7e33e4f545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7547c6b1a846c5" /><Relationship Type="http://schemas.openxmlformats.org/officeDocument/2006/relationships/notesMaster" Target="/ppt/notesMasters/notesMaster1.xml" Id="R293ddb76e90545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450c87d96e42b8" /><Relationship Type="http://schemas.openxmlformats.org/officeDocument/2006/relationships/notesMaster" Target="/ppt/notesMasters/notesMaster1.xml" Id="Ra3128a55015440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baa0df514b4b17" /><Relationship Type="http://schemas.openxmlformats.org/officeDocument/2006/relationships/notesMaster" Target="/ppt/notesMasters/notesMaster1.xml" Id="R13d44bb7da7243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924bf4d5e24554" /><Relationship Type="http://schemas.openxmlformats.org/officeDocument/2006/relationships/notesMaster" Target="/ppt/notesMasters/notesMaster1.xml" Id="R93e6f6a1178848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8318c474194a7d" /><Relationship Type="http://schemas.openxmlformats.org/officeDocument/2006/relationships/notesMaster" Target="/ppt/notesMasters/notesMaster1.xml" Id="R28ed2d5e5b2a490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c3eb4d55fc472c" /><Relationship Type="http://schemas.openxmlformats.org/officeDocument/2006/relationships/notesMaster" Target="/ppt/notesMasters/notesMaster1.xml" Id="R8e00cc759a3942f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7fafb0e3b04561" /><Relationship Type="http://schemas.openxmlformats.org/officeDocument/2006/relationships/notesMaster" Target="/ppt/notesMasters/notesMaster1.xml" Id="R7414742ba5b7452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04b01de5ca94a6a" /><Relationship Type="http://schemas.openxmlformats.org/officeDocument/2006/relationships/notesMaster" Target="/ppt/notesMasters/notesMaster1.xml" Id="Ra6c4a25471c74cb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d892e689aad4c49" /><Relationship Type="http://schemas.openxmlformats.org/officeDocument/2006/relationships/notesMaster" Target="/ppt/notesMasters/notesMaster1.xml" Id="R3c3af29432a644e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21468827a554abd" /><Relationship Type="http://schemas.openxmlformats.org/officeDocument/2006/relationships/notesMaster" Target="/ppt/notesMasters/notesMaster1.xml" Id="R983bbc5177324a5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9c9dceae4d0430c" /><Relationship Type="http://schemas.openxmlformats.org/officeDocument/2006/relationships/notesMaster" Target="/ppt/notesMasters/notesMaster1.xml" Id="R1df50592465f4d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 kaynakları: README.md ve docs/TEKNIK_RAPOR.md. Uygulama örnek mali veriler ve kurgusal EPDK metinleriyle geliştirilmiştir.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README.md; docs/TEKNIK_RAPOR.md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src/chains.py; src/config.py; src/finance_engine.py; src/ingest_qdrant.py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src/finance_engine.py; src/chains.py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data/mizan_bilanco_dummy_2024.xlsx; test_pipeline.py; docs/TEKNIK_RAPOR.md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Kaynak: src/ingest_qdrant.py; src/retrieval.py; src/regulatory_evidence.py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Kaynak: src/hybrid_evidence.py; src/chains.py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Kaynak: app.py; docs/ekranlar/04_ana_ekran.png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Kaynak: src/access.py; src/accounts.py; docs/ekranlar/02_yeni_kullanici.png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Kaynak: src/accounts.py; src/access.py; src/audit.py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Kaynak: src/conversation.py; src/chains.py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Kaynak: docs/DOGRULAMA.md; test_accounts.py; test_access_audit.py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Kaynak: README.md; docs/TESLIM.md; docs/teslim/Finans_RAG_v2_Ekran_Goruntulu_Kilavuz.pdf; https://github.com/EralpErboga/finans-rag-v2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Kaynak: docs/TEKNIK_RAPOR.md; docs/TESLIM.md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23cf5dd1e7409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34025e6fc04b8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399c6605dc471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179a3131d8478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8a1ed2b2b24cc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1df58b27214d9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5da142d32d457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3db0cfaeb7449f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58b9610613440c" /><Relationship Type="http://schemas.openxmlformats.org/officeDocument/2006/relationships/slideLayout" Target="/ppt/slideLayouts/slideLayout1.xml" Id="R290ad50a490b4fb3" /><Relationship Type="http://schemas.openxmlformats.org/officeDocument/2006/relationships/slideLayout" Target="/ppt/slideLayouts/slideLayout2.xml" Id="Ra9e941ffa45a497d" /><Relationship Type="http://schemas.openxmlformats.org/officeDocument/2006/relationships/slideLayout" Target="/ppt/slideLayouts/slideLayout3.xml" Id="R70326676b99f4df8" /><Relationship Type="http://schemas.openxmlformats.org/officeDocument/2006/relationships/slideLayout" Target="/ppt/slideLayouts/slideLayout4.xml" Id="Rd9ca0c8a5b634920" /><Relationship Type="http://schemas.openxmlformats.org/officeDocument/2006/relationships/slideLayout" Target="/ppt/slideLayouts/slideLayout5.xml" Id="R5d6037d156cf44e8" /><Relationship Type="http://schemas.openxmlformats.org/officeDocument/2006/relationships/slideLayout" Target="/ppt/slideLayouts/slideLayout6.xml" Id="Reb325755e132447e" /><Relationship Type="http://schemas.openxmlformats.org/officeDocument/2006/relationships/slideLayout" Target="/ppt/slideLayouts/slideLayout7.xml" Id="Ra97bd1f3e8fc49e6" /><Relationship Type="http://schemas.openxmlformats.org/officeDocument/2006/relationships/slideLayout" Target="/ppt/slideLayouts/slideLayout8.xml" Id="R8da9392de36a4d1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0ad50a490b4fb3"/>
    <p:sldLayoutId xmlns:r="http://schemas.openxmlformats.org/officeDocument/2006/relationships" id="2147483650" r:id="Ra9e941ffa45a497d"/>
    <p:sldLayoutId xmlns:r="http://schemas.openxmlformats.org/officeDocument/2006/relationships" id="2147483651" r:id="R70326676b99f4df8"/>
    <p:sldLayoutId xmlns:r="http://schemas.openxmlformats.org/officeDocument/2006/relationships" id="2147483652" r:id="Rd9ca0c8a5b634920"/>
    <p:sldLayoutId xmlns:r="http://schemas.openxmlformats.org/officeDocument/2006/relationships" id="2147483653" r:id="R5d6037d156cf44e8"/>
    <p:sldLayoutId xmlns:r="http://schemas.openxmlformats.org/officeDocument/2006/relationships" id="2147483654" r:id="Reb325755e132447e"/>
    <p:sldLayoutId xmlns:r="http://schemas.openxmlformats.org/officeDocument/2006/relationships" id="2147483655" r:id="Ra97bd1f3e8fc49e6"/>
    <p:sldLayoutId xmlns:r="http://schemas.openxmlformats.org/officeDocument/2006/relationships" id="2147483656" r:id="R8da9392de36a4d1a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Finans RAG Theme">
  <a:themeElements>
    <a:clrScheme name="Finans RAG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Finans RAG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5e19785a54ff9" /><Relationship Type="http://schemas.openxmlformats.org/officeDocument/2006/relationships/notesSlide" Target="/ppt/notesSlides/notesSlide1.xml" Id="R83ae8032b0224b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0602360324431f" /><Relationship Type="http://schemas.openxmlformats.org/officeDocument/2006/relationships/notesSlide" Target="/ppt/notesSlides/notesSlide2.xml" Id="R76606dc080d240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a2abcf9de140ee" /><Relationship Type="http://schemas.openxmlformats.org/officeDocument/2006/relationships/notesSlide" Target="/ppt/notesSlides/notesSlide3.xml" Id="R026ebfaa2c7546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a71a5591946a7" /><Relationship Type="http://schemas.openxmlformats.org/officeDocument/2006/relationships/notesSlide" Target="/ppt/notesSlides/notesSlide4.xml" Id="R3066ef1e4e5d4e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adb66ab3a84730" /><Relationship Type="http://schemas.openxmlformats.org/officeDocument/2006/relationships/notesSlide" Target="/ppt/notesSlides/notesSlide5.xml" Id="Re4c80647ecce48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6674662b3c4df0" /><Relationship Type="http://schemas.openxmlformats.org/officeDocument/2006/relationships/notesSlide" Target="/ppt/notesSlides/notesSlide6.xml" Id="Re87e93bdfa4448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fba6bbfb9d4fd7" /><Relationship Type="http://schemas.openxmlformats.org/officeDocument/2006/relationships/notesSlide" Target="/ppt/notesSlides/notesSlide7.xml" Id="R49c4983c10a745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07df96662146e6" /><Relationship Type="http://schemas.openxmlformats.org/officeDocument/2006/relationships/image" Target="/ppt/media/image.png" Id="Rbbcb124e80f44505" /><Relationship Type="http://schemas.openxmlformats.org/officeDocument/2006/relationships/notesSlide" Target="/ppt/notesSlides/notesSlide8.xml" Id="R1686a7f1e19840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1d466893254540" /><Relationship Type="http://schemas.openxmlformats.org/officeDocument/2006/relationships/image" Target="/ppt/media/image2.png" Id="R57033e11c95443ec" /><Relationship Type="http://schemas.openxmlformats.org/officeDocument/2006/relationships/notesSlide" Target="/ppt/notesSlides/notesSlide9.xml" Id="R5261130f392b450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3c1ded70f34777" /><Relationship Type="http://schemas.openxmlformats.org/officeDocument/2006/relationships/notesSlide" Target="/ppt/notesSlides/notesSlide10.xml" Id="R52f7c22266bf48e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d6cbe417c8467f" /><Relationship Type="http://schemas.openxmlformats.org/officeDocument/2006/relationships/notesSlide" Target="/ppt/notesSlides/notesSlide11.xml" Id="R390a647873bb421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298492591a414c" /><Relationship Type="http://schemas.openxmlformats.org/officeDocument/2006/relationships/notesSlide" Target="/ppt/notesSlides/notesSlide12.xml" Id="Rc7e0531fe1c5467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3333e6011446e5" /><Relationship Type="http://schemas.openxmlformats.org/officeDocument/2006/relationships/notesSlide" Target="/ppt/notesSlides/notesSlide13.xml" Id="R3b3fb8041e2a40b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95700fda044576" /><Relationship Type="http://schemas.openxmlformats.org/officeDocument/2006/relationships/notesSlide" Target="/ppt/notesSlides/notesSlide14.xml" Id="R5289e5be02fe4c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Üst başlık">
            <a:extLst xmlns:a="http://schemas.openxmlformats.org/drawingml/2006/main">
              <a:ext uri="{FF2B5EF4-FFF2-40B4-BE49-F238E27FC236}">
                <a16:creationId xmlns:a16="http://schemas.microsoft.com/office/drawing/2014/main" id="{EB26FCAC-0F8F-4A5C-B204-BB0D7FA5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F6900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FF6900"/>
                </a:solidFill>
                <a:latin typeface="Roboto"/>
                <a:ea typeface="Roboto"/>
                <a:cs typeface="Roboto"/>
              </a:rPr>
              <a:t>BİLGİSAYAR MÜHENDİSLİĞİ STAJ PROJESİ</a:t>
            </a:r>
          </a:p>
        </p:txBody>
      </p:sp>
      <p:sp>
        <p:nvSpPr>
          <p:cNvPr id="2" name="Ana başlık">
            <a:extLst xmlns:a="http://schemas.openxmlformats.org/drawingml/2006/main">
              <a:ext uri="{FF2B5EF4-FFF2-40B4-BE49-F238E27FC236}">
                <a16:creationId xmlns:a16="http://schemas.microsoft.com/office/drawing/2014/main" id="{30EEB0AB-7B49-4176-B601-B86066D9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9775"/>
            <a:ext cx="11096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>
                <a:solidFill>
                  <a:srgbClr val="FFFFFF"/>
                </a:solidFill>
                <a:latin typeface="Lora"/>
                <a:ea typeface="Lora"/>
                <a:cs typeface="Lora"/>
              </a:defRPr>
            </a:pPr>
            <a:r>
              <a:rPr sz="5850">
                <a:solidFill>
                  <a:srgbClr val="FFFFFF"/>
                </a:solidFill>
                <a:latin typeface="Lora"/>
                <a:ea typeface="Lora"/>
                <a:cs typeface="Lora"/>
              </a:rPr>
              <a:t>Finans RAG v2</a:t>
            </a:r>
          </a:p>
        </p:txBody>
      </p:sp>
      <p:sp>
        <p:nvSpPr>
          <p:cNvPr id="3" name="Alt başlık">
            <a:extLst xmlns:a="http://schemas.openxmlformats.org/drawingml/2006/main">
              <a:ext uri="{FF2B5EF4-FFF2-40B4-BE49-F238E27FC236}">
                <a16:creationId xmlns:a16="http://schemas.microsoft.com/office/drawing/2014/main" id="{63B2F1F7-6C16-444A-993C-28691B40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FFFFFF"/>
                </a:solidFill>
                <a:latin typeface="Lora"/>
                <a:ea typeface="Lora"/>
                <a:cs typeface="Lora"/>
              </a:defRPr>
            </a:pPr>
            <a:r>
              <a:rPr sz="3225">
                <a:solidFill>
                  <a:srgbClr val="FFFFFF"/>
                </a:solidFill>
                <a:latin typeface="Lora"/>
                <a:ea typeface="Lora"/>
                <a:cs typeface="Lora"/>
              </a:rPr>
              <a:t>Yerel finans ve mevzuat asistanı</a:t>
            </a:r>
          </a:p>
        </p:txBody>
      </p:sp>
      <p:sp>
        <p:nvSpPr>
          <p:cNvPr id="4" name="İsim">
            <a:extLst xmlns:a="http://schemas.openxmlformats.org/drawingml/2006/main">
              <a:ext uri="{FF2B5EF4-FFF2-40B4-BE49-F238E27FC236}">
                <a16:creationId xmlns:a16="http://schemas.microsoft.com/office/drawing/2014/main" id="{C74252EE-D7E2-4EA3-A14B-8B17E44E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001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B9B9B9"/>
                </a:solidFill>
                <a:latin typeface="Roboto"/>
                <a:ea typeface="Roboto"/>
                <a:cs typeface="Roboto"/>
              </a:defRPr>
            </a:pPr>
            <a:r>
              <a:rPr sz="2025">
                <a:solidFill>
                  <a:srgbClr val="B9B9B9"/>
                </a:solidFill>
                <a:latin typeface="Roboto"/>
                <a:ea typeface="Roboto"/>
                <a:cs typeface="Roboto"/>
              </a:rPr>
              <a:t>Eralp Erboğa</a:t>
            </a:r>
          </a:p>
          <a:p xmlns:a="http://schemas.openxmlformats.org/drawingml/2006/main">
            <a:pPr>
              <a:defRPr sz="2025">
                <a:solidFill>
                  <a:srgbClr val="B9B9B9"/>
                </a:solidFill>
                <a:latin typeface="Roboto"/>
                <a:ea typeface="Roboto"/>
                <a:cs typeface="Roboto"/>
              </a:defRPr>
            </a:pPr>
            <a:r>
              <a:rPr sz="2025">
                <a:solidFill>
                  <a:srgbClr val="B9B9B9"/>
                </a:solidFill>
                <a:latin typeface="Roboto"/>
                <a:ea typeface="Roboto"/>
                <a:cs typeface="Roboto"/>
              </a:rPr>
              <a:t>Eylül 2026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aşlık">
            <a:extLst xmlns:a="http://schemas.openxmlformats.org/drawingml/2006/main">
              <a:ext uri="{FF2B5EF4-FFF2-40B4-BE49-F238E27FC236}">
                <a16:creationId xmlns:a16="http://schemas.microsoft.com/office/drawing/2014/main" id="{A96B2BE0-83A2-4DDF-988D-0AD6A1E7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>
                <a:solidFill>
                  <a:srgbClr val="FFFFFF"/>
                </a:solidFill>
                <a:latin typeface="Lora"/>
                <a:ea typeface="Lora"/>
                <a:cs typeface="Lora"/>
              </a:defRPr>
            </a:pPr>
            <a:r>
              <a:rPr sz="3450">
                <a:solidFill>
                  <a:srgbClr val="FFFFFF"/>
                </a:solidFill>
                <a:latin typeface="Lora"/>
                <a:ea typeface="Lora"/>
                <a:cs typeface="Lora"/>
              </a:rPr>
              <a:t>Projenin amacı</a:t>
            </a:r>
          </a:p>
        </p:txBody>
      </p:sp>
      <p:sp>
        <p:nvSpPr>
          <p:cNvPr id="2" name="Açıklama">
            <a:extLst xmlns:a="http://schemas.openxmlformats.org/drawingml/2006/main">
              <a:ext uri="{FF2B5EF4-FFF2-40B4-BE49-F238E27FC236}">
                <a16:creationId xmlns:a16="http://schemas.microsoft.com/office/drawing/2014/main" id="{F7C77D8B-7860-44A7-B749-E1F3B888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100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B9B9B9"/>
                </a:solidFill>
                <a:latin typeface="Roboto"/>
                <a:ea typeface="Roboto"/>
                <a:cs typeface="Roboto"/>
              </a:defRPr>
            </a:pPr>
            <a:r>
              <a:rPr sz="1875">
                <a:solidFill>
                  <a:srgbClr val="B9B9B9"/>
                </a:solidFill>
                <a:latin typeface="Roboto"/>
                <a:ea typeface="Roboto"/>
                <a:cs typeface="Roboto"/>
              </a:rPr>
              <a:t>Mali tablolara ve mevzuat metinlerine doğal dilde sorularla erişim.</a:t>
            </a:r>
          </a:p>
        </p:txBody>
      </p:sp>
      <p:sp>
        <p:nvSpPr>
          <p:cNvPr id="3" name="Alt bilgi">
            <a:extLst xmlns:a="http://schemas.openxmlformats.org/drawingml/2006/main">
              <a:ext uri="{FF2B5EF4-FFF2-40B4-BE49-F238E27FC236}">
                <a16:creationId xmlns:a16="http://schemas.microsoft.com/office/drawing/2014/main" id="{08672B5B-595E-4A1A-BD7A-6958486D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F8F8F"/>
                </a:solidFill>
                <a:latin typeface="Roboto"/>
                <a:ea typeface="Roboto"/>
                <a:cs typeface="Roboto"/>
              </a:defRPr>
            </a:pPr>
            <a:r>
              <a:rPr sz="1125">
                <a:solidFill>
                  <a:srgbClr val="8F8F8F"/>
                </a:solidFill>
                <a:latin typeface="Roboto"/>
                <a:ea typeface="Roboto"/>
                <a:cs typeface="Roboto"/>
              </a:rPr>
              <a:t>Finans RAG v2  •  Eralp Erboğa</a:t>
            </a:r>
          </a:p>
        </p:txBody>
      </p:sp>
      <p:sp>
        <p:nvSpPr>
          <p:cNvPr id="4" name="Sayfa">
            <a:extLst xmlns:a="http://schemas.openxmlformats.org/drawingml/2006/main">
              <a:ext uri="{FF2B5EF4-FFF2-40B4-BE49-F238E27FC236}">
                <a16:creationId xmlns:a16="http://schemas.microsoft.com/office/drawing/2014/main" id="{FBD4F9FA-2C5C-4CFE-BFEA-C309B7F7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F8F8F"/>
                </a:solidFill>
                <a:latin typeface="Roboto"/>
                <a:ea typeface="Roboto"/>
                <a:cs typeface="Roboto"/>
              </a:defRPr>
            </a:pPr>
            <a:r>
              <a:rPr sz="1125">
                <a:solidFill>
                  <a:srgbClr val="8F8F8F"/>
                </a:solidFill>
                <a:latin typeface="Roboto"/>
                <a:ea typeface="Roboto"/>
                <a:cs typeface="Roboto"/>
              </a:rPr>
              <a:t>02</a:t>
            </a:r>
          </a:p>
        </p:txBody>
      </p:sp>
      <p:sp>
        <p:nvSpPr>
          <p:cNvPr id="5" name="Amaç başlık">
            <a:extLst xmlns:a="http://schemas.openxmlformats.org/drawingml/2006/main">
              <a:ext uri="{FF2B5EF4-FFF2-40B4-BE49-F238E27FC236}">
                <a16:creationId xmlns:a16="http://schemas.microsoft.com/office/drawing/2014/main" id="{D0BB5406-8C73-4329-9ACC-993FEC6E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519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6900"/>
                </a:solidFill>
                <a:latin typeface="Roboto"/>
                <a:ea typeface="Roboto"/>
                <a:cs typeface="Roboto"/>
              </a:defRPr>
            </a:pPr>
            <a:r>
              <a:rPr sz="2175">
                <a:solidFill>
                  <a:srgbClr val="FF6900"/>
                </a:solidFill>
                <a:latin typeface="Roboto"/>
                <a:ea typeface="Roboto"/>
                <a:cs typeface="Roboto"/>
              </a:rPr>
              <a:t>Tek arayüzden bilgiye erişim</a:t>
            </a:r>
          </a:p>
        </p:txBody>
      </p:sp>
      <p:sp>
        <p:nvSpPr>
          <p:cNvPr id="6" name="Amaç metin">
            <a:extLst xmlns:a="http://schemas.openxmlformats.org/drawingml/2006/main">
              <a:ext uri="{FF2B5EF4-FFF2-40B4-BE49-F238E27FC236}">
                <a16:creationId xmlns:a16="http://schemas.microsoft.com/office/drawing/2014/main" id="{CBE65B9A-00AA-44F7-8BAB-420C0AF8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71775"/>
            <a:ext cx="519112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2025">
                <a:solidFill>
                  <a:srgbClr val="E8E8E8"/>
                </a:solidFill>
                <a:latin typeface="Roboto"/>
                <a:ea typeface="Roboto"/>
                <a:cs typeface="Roboto"/>
              </a:rPr>
              <a:t>Kullanıcı; hesap bakiyesi, mali oran veya mevzuat maddesi hakkında soru sorabilir.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2025">
                <a:solidFill>
                  <a:srgbClr val="E8E8E8"/>
                </a:solidFill>
                <a:latin typeface="Roboto"/>
                <a:ea typeface="Roboto"/>
                <a:cs typeface="Roboto"/>
              </a:rPr>
              <a:t>Uygulama, uygun veri kaynağını seçerek sonucu ve dayandığı kayıtları birlikte gösterir.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2025">
                <a:solidFill>
                  <a:srgbClr val="E8E8E8"/>
                </a:solidFill>
                <a:latin typeface="Roboto"/>
                <a:ea typeface="Roboto"/>
                <a:cs typeface="Roboto"/>
              </a:rPr>
              <a:t>Excel tabloları ile metin belgeleri aynı çalışma akışında değerlendirilir.</a:t>
            </a:r>
          </a:p>
        </p:txBody>
      </p:sp>
      <p:sp>
        <p:nvSpPr>
          <p:cNvPr id="7" name="Yaklaşım başlık">
            <a:extLst xmlns:a="http://schemas.openxmlformats.org/drawingml/2006/main">
              <a:ext uri="{FF2B5EF4-FFF2-40B4-BE49-F238E27FC236}">
                <a16:creationId xmlns:a16="http://schemas.microsoft.com/office/drawing/2014/main" id="{F0533FA5-0DCC-41E8-8C62-578EB124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519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6900"/>
                </a:solidFill>
                <a:latin typeface="Roboto"/>
                <a:ea typeface="Roboto"/>
                <a:cs typeface="Roboto"/>
              </a:defRPr>
            </a:pPr>
            <a:r>
              <a:rPr sz="2175">
                <a:solidFill>
                  <a:srgbClr val="FF6900"/>
                </a:solidFill>
                <a:latin typeface="Roboto"/>
                <a:ea typeface="Roboto"/>
                <a:cs typeface="Roboto"/>
              </a:rPr>
              <a:t>Yerel çalışma düzeni</a:t>
            </a:r>
          </a:p>
        </p:txBody>
      </p:sp>
      <p:sp>
        <p:nvSpPr>
          <p:cNvPr id="8" name="Yaklaşım metin">
            <a:extLst xmlns:a="http://schemas.openxmlformats.org/drawingml/2006/main">
              <a:ext uri="{FF2B5EF4-FFF2-40B4-BE49-F238E27FC236}">
                <a16:creationId xmlns:a16="http://schemas.microsoft.com/office/drawing/2014/main" id="{90EEB2B7-7141-4A28-B82A-4649746A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71775"/>
            <a:ext cx="519112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2025">
                <a:solidFill>
                  <a:srgbClr val="E8E8E8"/>
                </a:solidFill>
                <a:latin typeface="Roboto"/>
                <a:ea typeface="Roboto"/>
                <a:cs typeface="Roboto"/>
              </a:rPr>
              <a:t>Dil modeli Ollama üzerinden bilgisayarda çalışır. Mali kayıtlar SQLite’ta, mevzuat vektörleri Qdrant’ta tutulur.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2025">
                <a:solidFill>
                  <a:srgbClr val="E8E8E8"/>
                </a:solidFill>
                <a:latin typeface="Roboto"/>
                <a:ea typeface="Roboto"/>
                <a:cs typeface="Roboto"/>
              </a:rPr>
              <a:t>İlk kurulumda modeller ve bağımlılıklar indirilir. Sonraki işlem akışı yerel servisler üzerinden yürütülür.</a:t>
            </a:r>
          </a:p>
        </p:txBody>
      </p:sp>
      <p:sp>
        <p:nvSpPr>
          <p:cNvPr id="9" name="Veri notu">
            <a:extLst xmlns:a="http://schemas.openxmlformats.org/drawingml/2006/main">
              <a:ext uri="{FF2B5EF4-FFF2-40B4-BE49-F238E27FC236}">
                <a16:creationId xmlns:a16="http://schemas.microsoft.com/office/drawing/2014/main" id="{BB2FF98D-054B-448A-A3B1-90FFEE62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43600"/>
            <a:ext cx="1095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9B9B9"/>
                </a:solidFill>
                <a:latin typeface="Roboto"/>
                <a:ea typeface="Roboto"/>
                <a:cs typeface="Roboto"/>
              </a:defRPr>
            </a:pPr>
            <a:r>
              <a:rPr sz="1575">
                <a:solidFill>
                  <a:srgbClr val="B9B9B9"/>
                </a:solidFill>
                <a:latin typeface="Roboto"/>
                <a:ea typeface="Roboto"/>
                <a:cs typeface="Roboto"/>
              </a:rPr>
              <a:t>Geliştirmede örnek mali tablolar ve kurgusal EPDK metinleri kullanılmıştır.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Başlık">
            <a:extLst xmlns:a="http://schemas.openxmlformats.org/drawingml/2006/main">
              <a:ext uri="{FF2B5EF4-FFF2-40B4-BE49-F238E27FC236}">
                <a16:creationId xmlns:a16="http://schemas.microsoft.com/office/drawing/2014/main" id="{A5AE4B5A-C4CE-42AB-9032-62D3BEF6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>
                <a:solidFill>
                  <a:srgbClr val="FFFFFF"/>
                </a:solidFill>
                <a:latin typeface="Lora"/>
                <a:ea typeface="Lora"/>
                <a:cs typeface="Lora"/>
              </a:defRPr>
            </a:pPr>
            <a:r>
              <a:rPr sz="3450">
                <a:solidFill>
                  <a:srgbClr val="FFFFFF"/>
                </a:solidFill>
                <a:latin typeface="Lora"/>
                <a:ea typeface="Lora"/>
                <a:cs typeface="Lora"/>
              </a:rPr>
              <a:t>Sistemin çalışma yapısı</a:t>
            </a:r>
          </a:p>
        </p:txBody>
      </p:sp>
      <p:sp>
        <p:nvSpPr>
          <p:cNvPr id="2" name="Açıklama">
            <a:extLst xmlns:a="http://schemas.openxmlformats.org/drawingml/2006/main">
              <a:ext uri="{FF2B5EF4-FFF2-40B4-BE49-F238E27FC236}">
                <a16:creationId xmlns:a16="http://schemas.microsoft.com/office/drawing/2014/main" id="{543FABC1-A2CB-4268-A5BE-AAE2681A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100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B9B9B9"/>
                </a:solidFill>
                <a:latin typeface="Roboto"/>
                <a:ea typeface="Roboto"/>
                <a:cs typeface="Roboto"/>
              </a:defRPr>
            </a:pPr>
            <a:r>
              <a:rPr sz="1875">
                <a:solidFill>
                  <a:srgbClr val="B9B9B9"/>
                </a:solidFill>
                <a:latin typeface="Roboto"/>
                <a:ea typeface="Roboto"/>
                <a:cs typeface="Roboto"/>
              </a:rPr>
              <a:t>Sorunun yorumlanması, veri erişimi ve hesaplama ayrı bileşenlerde yürütülür.</a:t>
            </a:r>
          </a:p>
        </p:txBody>
      </p:sp>
      <p:sp>
        <p:nvSpPr>
          <p:cNvPr id="3" name="Alt bilgi">
            <a:extLst xmlns:a="http://schemas.openxmlformats.org/drawingml/2006/main">
              <a:ext uri="{FF2B5EF4-FFF2-40B4-BE49-F238E27FC236}">
                <a16:creationId xmlns:a16="http://schemas.microsoft.com/office/drawing/2014/main" id="{9B6EACDC-EA4A-470F-8DDE-58412D88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F8F8F"/>
                </a:solidFill>
                <a:latin typeface="Roboto"/>
                <a:ea typeface="Roboto"/>
                <a:cs typeface="Roboto"/>
              </a:defRPr>
            </a:pPr>
            <a:r>
              <a:rPr sz="1125">
                <a:solidFill>
                  <a:srgbClr val="8F8F8F"/>
                </a:solidFill>
                <a:latin typeface="Roboto"/>
                <a:ea typeface="Roboto"/>
                <a:cs typeface="Roboto"/>
              </a:rPr>
              <a:t>Finans RAG v2  •  Eralp Erboğa</a:t>
            </a:r>
          </a:p>
        </p:txBody>
      </p:sp>
      <p:sp>
        <p:nvSpPr>
          <p:cNvPr id="4" name="Sayfa">
            <a:extLst xmlns:a="http://schemas.openxmlformats.org/drawingml/2006/main">
              <a:ext uri="{FF2B5EF4-FFF2-40B4-BE49-F238E27FC236}">
                <a16:creationId xmlns:a16="http://schemas.microsoft.com/office/drawing/2014/main" id="{33FE6395-45B0-4EBC-ABFD-7DD1A878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F8F8F"/>
                </a:solidFill>
                <a:latin typeface="Roboto"/>
                <a:ea typeface="Roboto"/>
                <a:cs typeface="Roboto"/>
              </a:defRPr>
            </a:pPr>
            <a:r>
              <a:rPr sz="1125">
                <a:solidFill>
                  <a:srgbClr val="8F8F8F"/>
                </a:solidFill>
                <a:latin typeface="Roboto"/>
                <a:ea typeface="Roboto"/>
                <a:cs typeface="Roboto"/>
              </a:rPr>
              <a:t>03</a:t>
            </a:r>
          </a:p>
        </p:txBody>
      </p:sp>
      <p:sp>
        <p:nvSpPr>
          <p:cNvPr id="5" name="Adım 01">
            <a:extLst xmlns:a="http://schemas.openxmlformats.org/drawingml/2006/main">
              <a:ext uri="{FF2B5EF4-FFF2-40B4-BE49-F238E27FC236}">
                <a16:creationId xmlns:a16="http://schemas.microsoft.com/office/drawing/2014/main" id="{174D3D76-0E04-4FC6-8BAD-8A68C6EC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809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FF6900"/>
                </a:solidFill>
                <a:latin typeface="Roboto"/>
                <a:ea typeface="Roboto"/>
                <a:cs typeface="Roboto"/>
              </a:defRPr>
            </a:pPr>
            <a:r>
              <a:rPr sz="3225">
                <a:solidFill>
                  <a:srgbClr val="FF6900"/>
                </a:solidFill>
                <a:latin typeface="Roboto"/>
                <a:ea typeface="Roboto"/>
                <a:cs typeface="Roboto"/>
              </a:rPr>
              <a:t>01</a:t>
            </a:r>
          </a:p>
        </p:txBody>
      </p:sp>
      <p:sp>
        <p:nvSpPr>
          <p:cNvPr id="6" name="Konu 01">
            <a:extLst xmlns:a="http://schemas.openxmlformats.org/drawingml/2006/main">
              <a:ext uri="{FF2B5EF4-FFF2-40B4-BE49-F238E27FC236}">
                <a16:creationId xmlns:a16="http://schemas.microsoft.com/office/drawing/2014/main" id="{18B4BE47-0E29-432D-9C13-E27EDC5B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171700"/>
            <a:ext cx="9763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2175">
                <a:solidFill>
                  <a:srgbClr val="FFFFFF"/>
                </a:solidFill>
                <a:latin typeface="Roboto"/>
                <a:ea typeface="Roboto"/>
                <a:cs typeface="Roboto"/>
              </a:rPr>
              <a:t>Arayüz ve yönlendirme</a:t>
            </a:r>
          </a:p>
        </p:txBody>
      </p:sp>
      <p:sp>
        <p:nvSpPr>
          <p:cNvPr id="7" name="Detay 01">
            <a:extLst xmlns:a="http://schemas.openxmlformats.org/drawingml/2006/main">
              <a:ext uri="{FF2B5EF4-FFF2-40B4-BE49-F238E27FC236}">
                <a16:creationId xmlns:a16="http://schemas.microsoft.com/office/drawing/2014/main" id="{E14BCD1B-395F-4AEA-9DA7-40C994ED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619375"/>
            <a:ext cx="9763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1950">
                <a:solidFill>
                  <a:srgbClr val="E8E8E8"/>
                </a:solidFill>
                <a:latin typeface="Roboto"/>
                <a:ea typeface="Roboto"/>
                <a:cs typeface="Roboto"/>
              </a:rPr>
              <a:t>Streamlit soruyu alır. Python akışı, isteği finans, mevzuat, karma sorgu veya sohbet geçmişi kanalına yönlendirir.</a:t>
            </a:r>
          </a:p>
        </p:txBody>
      </p:sp>
      <p:sp>
        <p:nvSpPr>
          <p:cNvPr id="8" name="Adım 02">
            <a:extLst xmlns:a="http://schemas.openxmlformats.org/drawingml/2006/main">
              <a:ext uri="{FF2B5EF4-FFF2-40B4-BE49-F238E27FC236}">
                <a16:creationId xmlns:a16="http://schemas.microsoft.com/office/drawing/2014/main" id="{E1DA0601-9ECF-4AFC-A1A8-9DF7CBA9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76625"/>
            <a:ext cx="809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FF6900"/>
                </a:solidFill>
                <a:latin typeface="Roboto"/>
                <a:ea typeface="Roboto"/>
                <a:cs typeface="Roboto"/>
              </a:defRPr>
            </a:pPr>
            <a:r>
              <a:rPr sz="3225">
                <a:solidFill>
                  <a:srgbClr val="FF6900"/>
                </a:solidFill>
                <a:latin typeface="Roboto"/>
                <a:ea typeface="Roboto"/>
                <a:cs typeface="Roboto"/>
              </a:rPr>
              <a:t>02</a:t>
            </a:r>
          </a:p>
        </p:txBody>
      </p:sp>
      <p:sp>
        <p:nvSpPr>
          <p:cNvPr id="9" name="Konu 02">
            <a:extLst xmlns:a="http://schemas.openxmlformats.org/drawingml/2006/main">
              <a:ext uri="{FF2B5EF4-FFF2-40B4-BE49-F238E27FC236}">
                <a16:creationId xmlns:a16="http://schemas.microsoft.com/office/drawing/2014/main" id="{F21F72FD-38E6-4A3C-B38F-412D519C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9763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2175">
                <a:solidFill>
                  <a:srgbClr val="FFFFFF"/>
                </a:solidFill>
                <a:latin typeface="Roboto"/>
                <a:ea typeface="Roboto"/>
                <a:cs typeface="Roboto"/>
              </a:rPr>
              <a:t>Veriye erişim</a:t>
            </a:r>
          </a:p>
        </p:txBody>
      </p:sp>
      <p:sp>
        <p:nvSpPr>
          <p:cNvPr id="10" name="Detay 02">
            <a:extLst xmlns:a="http://schemas.openxmlformats.org/drawingml/2006/main">
              <a:ext uri="{FF2B5EF4-FFF2-40B4-BE49-F238E27FC236}">
                <a16:creationId xmlns:a16="http://schemas.microsoft.com/office/drawing/2014/main" id="{0EDAFAEE-D3D6-4024-9D10-7B1DF6FF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924300"/>
            <a:ext cx="9763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1950">
                <a:solidFill>
                  <a:srgbClr val="E8E8E8"/>
                </a:solidFill>
                <a:latin typeface="Roboto"/>
                <a:ea typeface="Roboto"/>
                <a:cs typeface="Roboto"/>
              </a:rPr>
              <a:t>SQLite mali kayıtları getirir. Qdrant, BGE-M3 ile oluşturulan vektörlerden ilgili mevzuat parçalarını seçer.</a:t>
            </a:r>
          </a:p>
        </p:txBody>
      </p:sp>
      <p:sp>
        <p:nvSpPr>
          <p:cNvPr id="11" name="Adım 03">
            <a:extLst xmlns:a="http://schemas.openxmlformats.org/drawingml/2006/main">
              <a:ext uri="{FF2B5EF4-FFF2-40B4-BE49-F238E27FC236}">
                <a16:creationId xmlns:a16="http://schemas.microsoft.com/office/drawing/2014/main" id="{FFCF3B4E-4D26-4005-802D-B85B730B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81550"/>
            <a:ext cx="809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FF6900"/>
                </a:solidFill>
                <a:latin typeface="Roboto"/>
                <a:ea typeface="Roboto"/>
                <a:cs typeface="Roboto"/>
              </a:defRPr>
            </a:pPr>
            <a:r>
              <a:rPr sz="3225">
                <a:solidFill>
                  <a:srgbClr val="FF6900"/>
                </a:solidFill>
                <a:latin typeface="Roboto"/>
                <a:ea typeface="Roboto"/>
                <a:cs typeface="Roboto"/>
              </a:rPr>
              <a:t>03</a:t>
            </a:r>
          </a:p>
        </p:txBody>
      </p:sp>
      <p:sp>
        <p:nvSpPr>
          <p:cNvPr id="12" name="Konu 03">
            <a:extLst xmlns:a="http://schemas.openxmlformats.org/drawingml/2006/main">
              <a:ext uri="{FF2B5EF4-FFF2-40B4-BE49-F238E27FC236}">
                <a16:creationId xmlns:a16="http://schemas.microsoft.com/office/drawing/2014/main" id="{39516B06-803D-4B51-A6DB-2891CB15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781550"/>
            <a:ext cx="9763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2175">
                <a:solidFill>
                  <a:srgbClr val="FFFFFF"/>
                </a:solidFill>
                <a:latin typeface="Roboto"/>
                <a:ea typeface="Roboto"/>
                <a:cs typeface="Roboto"/>
              </a:rPr>
              <a:t>Sonucun hazırlanması</a:t>
            </a:r>
          </a:p>
        </p:txBody>
      </p:sp>
      <p:sp>
        <p:nvSpPr>
          <p:cNvPr id="13" name="Detay 03">
            <a:extLst xmlns:a="http://schemas.openxmlformats.org/drawingml/2006/main">
              <a:ext uri="{FF2B5EF4-FFF2-40B4-BE49-F238E27FC236}">
                <a16:creationId xmlns:a16="http://schemas.microsoft.com/office/drawing/2014/main" id="{28A8FF56-7133-434F-9D10-80862A7E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229225"/>
            <a:ext cx="9763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1950">
                <a:solidFill>
                  <a:srgbClr val="E8E8E8"/>
                </a:solidFill>
                <a:latin typeface="Roboto"/>
                <a:ea typeface="Roboto"/>
                <a:cs typeface="Roboto"/>
              </a:rPr>
              <a:t>Qwen2.5 7B soruyu ve metni yorumlar. Python mali işlemleri hesaplar; yanıt kaynak bilgileriyle arayüze döner.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aşlık">
            <a:extLst xmlns:a="http://schemas.openxmlformats.org/drawingml/2006/main">
              <a:ext uri="{FF2B5EF4-FFF2-40B4-BE49-F238E27FC236}">
                <a16:creationId xmlns:a16="http://schemas.microsoft.com/office/drawing/2014/main" id="{9CA43528-33EC-4258-8D02-A34EEC6E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>
                <a:solidFill>
                  <a:srgbClr val="FFFFFF"/>
                </a:solidFill>
                <a:latin typeface="Lora"/>
                <a:ea typeface="Lora"/>
                <a:cs typeface="Lora"/>
              </a:defRPr>
            </a:pPr>
            <a:r>
              <a:rPr sz="3450">
                <a:solidFill>
                  <a:srgbClr val="FFFFFF"/>
                </a:solidFill>
                <a:latin typeface="Lora"/>
                <a:ea typeface="Lora"/>
                <a:cs typeface="Lora"/>
              </a:rPr>
              <a:t>Mali veri ve hesaplama</a:t>
            </a:r>
          </a:p>
        </p:txBody>
      </p:sp>
      <p:sp>
        <p:nvSpPr>
          <p:cNvPr id="2" name="Açıklama">
            <a:extLst xmlns:a="http://schemas.openxmlformats.org/drawingml/2006/main">
              <a:ext uri="{FF2B5EF4-FFF2-40B4-BE49-F238E27FC236}">
                <a16:creationId xmlns:a16="http://schemas.microsoft.com/office/drawing/2014/main" id="{02636EA2-21F0-45B3-91A0-009A0587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100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B9B9B9"/>
                </a:solidFill>
                <a:latin typeface="Roboto"/>
                <a:ea typeface="Roboto"/>
                <a:cs typeface="Roboto"/>
              </a:defRPr>
            </a:pPr>
            <a:r>
              <a:rPr sz="1875">
                <a:solidFill>
                  <a:srgbClr val="B9B9B9"/>
                </a:solidFill>
                <a:latin typeface="Roboto"/>
                <a:ea typeface="Roboto"/>
                <a:cs typeface="Roboto"/>
              </a:rPr>
              <a:t>Modelin seçtiği işlem planı, veritabanındaki kayıtlar üzerinde uygulanır.</a:t>
            </a:r>
          </a:p>
        </p:txBody>
      </p:sp>
      <p:sp>
        <p:nvSpPr>
          <p:cNvPr id="3" name="Alt bilgi">
            <a:extLst xmlns:a="http://schemas.openxmlformats.org/drawingml/2006/main">
              <a:ext uri="{FF2B5EF4-FFF2-40B4-BE49-F238E27FC236}">
                <a16:creationId xmlns:a16="http://schemas.microsoft.com/office/drawing/2014/main" id="{F853F818-BF23-4587-A8CA-B4F7002A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F8F8F"/>
                </a:solidFill>
                <a:latin typeface="Roboto"/>
                <a:ea typeface="Roboto"/>
                <a:cs typeface="Roboto"/>
              </a:defRPr>
            </a:pPr>
            <a:r>
              <a:rPr sz="1125">
                <a:solidFill>
                  <a:srgbClr val="8F8F8F"/>
                </a:solidFill>
                <a:latin typeface="Roboto"/>
                <a:ea typeface="Roboto"/>
                <a:cs typeface="Roboto"/>
              </a:rPr>
              <a:t>Finans RAG v2  •  Eralp Erboğa</a:t>
            </a:r>
          </a:p>
        </p:txBody>
      </p:sp>
      <p:sp>
        <p:nvSpPr>
          <p:cNvPr id="4" name="Sayfa">
            <a:extLst xmlns:a="http://schemas.openxmlformats.org/drawingml/2006/main">
              <a:ext uri="{FF2B5EF4-FFF2-40B4-BE49-F238E27FC236}">
                <a16:creationId xmlns:a16="http://schemas.microsoft.com/office/drawing/2014/main" id="{0F87E6B9-856F-4D68-AB55-33B4E711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F8F8F"/>
                </a:solidFill>
                <a:latin typeface="Roboto"/>
                <a:ea typeface="Roboto"/>
                <a:cs typeface="Roboto"/>
              </a:defRPr>
            </a:pPr>
            <a:r>
              <a:rPr sz="1125">
                <a:solidFill>
                  <a:srgbClr val="8F8F8F"/>
                </a:solidFill>
                <a:latin typeface="Roboto"/>
                <a:ea typeface="Roboto"/>
                <a:cs typeface="Roboto"/>
              </a:rPr>
              <a:t>04</a:t>
            </a:r>
          </a:p>
        </p:txBody>
      </p:sp>
      <p:sp>
        <p:nvSpPr>
          <p:cNvPr id="5" name="Veri başlık">
            <a:extLst xmlns:a="http://schemas.openxmlformats.org/drawingml/2006/main">
              <a:ext uri="{FF2B5EF4-FFF2-40B4-BE49-F238E27FC236}">
                <a16:creationId xmlns:a16="http://schemas.microsoft.com/office/drawing/2014/main" id="{C9D0AAD1-5D77-447E-847A-E14EAC0E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519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6900"/>
                </a:solidFill>
                <a:latin typeface="Roboto"/>
                <a:ea typeface="Roboto"/>
                <a:cs typeface="Roboto"/>
              </a:defRPr>
            </a:pPr>
            <a:r>
              <a:rPr sz="2175">
                <a:solidFill>
                  <a:srgbClr val="FF6900"/>
                </a:solidFill>
                <a:latin typeface="Roboto"/>
                <a:ea typeface="Roboto"/>
                <a:cs typeface="Roboto"/>
              </a:rPr>
              <a:t>Excel’den düzenli kayıtlara</a:t>
            </a:r>
          </a:p>
        </p:txBody>
      </p:sp>
      <p:sp>
        <p:nvSpPr>
          <p:cNvPr id="6" name="Veri metin">
            <a:extLst xmlns:a="http://schemas.openxmlformats.org/drawingml/2006/main">
              <a:ext uri="{FF2B5EF4-FFF2-40B4-BE49-F238E27FC236}">
                <a16:creationId xmlns:a16="http://schemas.microsoft.com/office/drawing/2014/main" id="{ADCBE789-EF43-40A0-A79D-66AD3CED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71775"/>
            <a:ext cx="519112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2025">
                <a:solidFill>
                  <a:srgbClr val="E8E8E8"/>
                </a:solidFill>
                <a:latin typeface="Roboto"/>
                <a:ea typeface="Roboto"/>
                <a:cs typeface="Roboto"/>
              </a:rPr>
              <a:t>Mizan, bilanço ve gelir tablosu sayfaları okunur.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2025">
                <a:solidFill>
                  <a:srgbClr val="E8E8E8"/>
                </a:solidFill>
                <a:latin typeface="Roboto"/>
                <a:ea typeface="Roboto"/>
                <a:cs typeface="Roboto"/>
              </a:rPr>
              <a:t>Sütun adları ve hesap kodları standartlaştırılır; gerekli alanlar kontrol edilir.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2025">
                <a:solidFill>
                  <a:srgbClr val="E8E8E8"/>
                </a:solidFill>
                <a:latin typeface="Roboto"/>
                <a:ea typeface="Roboto"/>
                <a:cs typeface="Roboto"/>
              </a:rPr>
              <a:t>Veriler SQLite’a aktarılır ve kaynak etiketleriyle hesap kataloğunda sunulur.</a:t>
            </a:r>
          </a:p>
        </p:txBody>
      </p:sp>
      <p:sp>
        <p:nvSpPr>
          <p:cNvPr id="7" name="İşlem başlık">
            <a:extLst xmlns:a="http://schemas.openxmlformats.org/drawingml/2006/main">
              <a:ext uri="{FF2B5EF4-FFF2-40B4-BE49-F238E27FC236}">
                <a16:creationId xmlns:a16="http://schemas.microsoft.com/office/drawing/2014/main" id="{F6797110-470A-459C-AE76-C33BE76C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519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6900"/>
                </a:solidFill>
                <a:latin typeface="Roboto"/>
                <a:ea typeface="Roboto"/>
                <a:cs typeface="Roboto"/>
              </a:defRPr>
            </a:pPr>
            <a:r>
              <a:rPr sz="2175">
                <a:solidFill>
                  <a:srgbClr val="FF6900"/>
                </a:solidFill>
                <a:latin typeface="Roboto"/>
                <a:ea typeface="Roboto"/>
                <a:cs typeface="Roboto"/>
              </a:rPr>
              <a:t>Hesaplar Python ile yapılır</a:t>
            </a:r>
          </a:p>
        </p:txBody>
      </p:sp>
      <p:sp>
        <p:nvSpPr>
          <p:cNvPr id="8" name="İşlem metin">
            <a:extLst xmlns:a="http://schemas.openxmlformats.org/drawingml/2006/main">
              <a:ext uri="{FF2B5EF4-FFF2-40B4-BE49-F238E27FC236}">
                <a16:creationId xmlns:a16="http://schemas.microsoft.com/office/drawing/2014/main" id="{FC4F27B0-9428-4D17-9B14-E2A1E6DE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71775"/>
            <a:ext cx="519112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2025">
                <a:solidFill>
                  <a:srgbClr val="E8E8E8"/>
                </a:solidFill>
                <a:latin typeface="Roboto"/>
                <a:ea typeface="Roboto"/>
                <a:cs typeface="Roboto"/>
              </a:rPr>
              <a:t>Model, katalogdaki kayıtları ve yapılacak işlemi seçer; serbest SQL üretmez.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2025">
                <a:solidFill>
                  <a:srgbClr val="E8E8E8"/>
                </a:solidFill>
                <a:latin typeface="Roboto"/>
                <a:ea typeface="Roboto"/>
                <a:cs typeface="Roboto"/>
              </a:rPr>
              <a:t>Bakiye, toplam, fark, karşılaştırma ve oran hesapları kodla yürütülür.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2025">
                <a:solidFill>
                  <a:srgbClr val="E8E8E8"/>
                </a:solidFill>
                <a:latin typeface="Roboto"/>
                <a:ea typeface="Roboto"/>
                <a:cs typeface="Roboto"/>
              </a:rPr>
              <a:t>Geçersiz hesap seçimi ve sıfıra bölme gibi durumlar işlem öncesinde denetlenir.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Başlık">
            <a:extLst xmlns:a="http://schemas.openxmlformats.org/drawingml/2006/main">
              <a:ext uri="{FF2B5EF4-FFF2-40B4-BE49-F238E27FC236}">
                <a16:creationId xmlns:a16="http://schemas.microsoft.com/office/drawing/2014/main" id="{2D143195-FB9D-4496-BE71-2A6283BC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>
                <a:solidFill>
                  <a:srgbClr val="FFFFFF"/>
                </a:solidFill>
                <a:latin typeface="Lora"/>
                <a:ea typeface="Lora"/>
                <a:cs typeface="Lora"/>
              </a:defRPr>
            </a:pPr>
            <a:r>
              <a:rPr sz="3450">
                <a:solidFill>
                  <a:srgbClr val="FFFFFF"/>
                </a:solidFill>
                <a:latin typeface="Lora"/>
                <a:ea typeface="Lora"/>
                <a:cs typeface="Lora"/>
              </a:rPr>
              <a:t>Örnek mali sonuçlar</a:t>
            </a:r>
          </a:p>
        </p:txBody>
      </p:sp>
      <p:sp>
        <p:nvSpPr>
          <p:cNvPr id="2" name="Açıklama">
            <a:extLst xmlns:a="http://schemas.openxmlformats.org/drawingml/2006/main">
              <a:ext uri="{FF2B5EF4-FFF2-40B4-BE49-F238E27FC236}">
                <a16:creationId xmlns:a16="http://schemas.microsoft.com/office/drawing/2014/main" id="{E6DB5BBC-38F7-468C-912B-3DCFF6D0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100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B9B9B9"/>
                </a:solidFill>
                <a:latin typeface="Roboto"/>
                <a:ea typeface="Roboto"/>
                <a:cs typeface="Roboto"/>
              </a:defRPr>
            </a:pPr>
            <a:r>
              <a:rPr sz="1875">
                <a:solidFill>
                  <a:srgbClr val="B9B9B9"/>
                </a:solidFill>
                <a:latin typeface="Roboto"/>
                <a:ea typeface="Roboto"/>
                <a:cs typeface="Roboto"/>
              </a:rPr>
              <a:t>Aynı kaydın tutarı, oranı ve brüt/net ayrımı açık etiketlerle gösterilir.</a:t>
            </a:r>
          </a:p>
        </p:txBody>
      </p:sp>
      <p:sp>
        <p:nvSpPr>
          <p:cNvPr id="3" name="Alt bilgi">
            <a:extLst xmlns:a="http://schemas.openxmlformats.org/drawingml/2006/main">
              <a:ext uri="{FF2B5EF4-FFF2-40B4-BE49-F238E27FC236}">
                <a16:creationId xmlns:a16="http://schemas.microsoft.com/office/drawing/2014/main" id="{449E90B9-9DF8-468F-AC97-75C739D4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F8F8F"/>
                </a:solidFill>
                <a:latin typeface="Roboto"/>
                <a:ea typeface="Roboto"/>
                <a:cs typeface="Roboto"/>
              </a:defRPr>
            </a:pPr>
            <a:r>
              <a:rPr sz="1125">
                <a:solidFill>
                  <a:srgbClr val="8F8F8F"/>
                </a:solidFill>
                <a:latin typeface="Roboto"/>
                <a:ea typeface="Roboto"/>
                <a:cs typeface="Roboto"/>
              </a:rPr>
              <a:t>Finans RAG v2  •  Eralp Erboğa</a:t>
            </a:r>
          </a:p>
        </p:txBody>
      </p:sp>
      <p:sp>
        <p:nvSpPr>
          <p:cNvPr id="4" name="Sayfa">
            <a:extLst xmlns:a="http://schemas.openxmlformats.org/drawingml/2006/main">
              <a:ext uri="{FF2B5EF4-FFF2-40B4-BE49-F238E27FC236}">
                <a16:creationId xmlns:a16="http://schemas.microsoft.com/office/drawing/2014/main" id="{CE62A73A-28A6-42D5-81AB-463109E0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F8F8F"/>
                </a:solidFill>
                <a:latin typeface="Roboto"/>
                <a:ea typeface="Roboto"/>
                <a:cs typeface="Roboto"/>
              </a:defRPr>
            </a:pPr>
            <a:r>
              <a:rPr sz="1125">
                <a:solidFill>
                  <a:srgbClr val="8F8F8F"/>
                </a:solidFill>
                <a:latin typeface="Roboto"/>
                <a:ea typeface="Roboto"/>
                <a:cs typeface="Roboto"/>
              </a:rPr>
              <a:t>05</a:t>
            </a:r>
          </a:p>
        </p:txBody>
      </p:sp>
      <p:sp>
        <p:nvSpPr>
          <p:cNvPr id="5" name="Değer 0">
            <a:extLst xmlns:a="http://schemas.openxmlformats.org/drawingml/2006/main">
              <a:ext uri="{FF2B5EF4-FFF2-40B4-BE49-F238E27FC236}">
                <a16:creationId xmlns:a16="http://schemas.microsoft.com/office/drawing/2014/main" id="{38FF5D67-3143-4C98-B659-B77F5CE1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28875"/>
            <a:ext cx="3667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FF6900"/>
                </a:solidFill>
                <a:latin typeface="Roboto"/>
                <a:ea typeface="Roboto"/>
                <a:cs typeface="Roboto"/>
              </a:defRPr>
            </a:pPr>
            <a:r>
              <a:rPr sz="3300">
                <a:solidFill>
                  <a:srgbClr val="FF6900"/>
                </a:solidFill>
                <a:latin typeface="Roboto"/>
                <a:ea typeface="Roboto"/>
                <a:cs typeface="Roboto"/>
              </a:rPr>
              <a:t>270.000 TL</a:t>
            </a:r>
          </a:p>
        </p:txBody>
      </p:sp>
      <p:sp>
        <p:nvSpPr>
          <p:cNvPr id="6" name="Ölçüt 0">
            <a:extLst xmlns:a="http://schemas.openxmlformats.org/drawingml/2006/main">
              <a:ext uri="{FF2B5EF4-FFF2-40B4-BE49-F238E27FC236}">
                <a16:creationId xmlns:a16="http://schemas.microsoft.com/office/drawing/2014/main" id="{38C5DAB6-E1CD-4C1B-BDE0-C67B1C90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57575"/>
            <a:ext cx="3667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2025">
                <a:solidFill>
                  <a:srgbClr val="FFFFFF"/>
                </a:solidFill>
                <a:latin typeface="Roboto"/>
                <a:ea typeface="Roboto"/>
                <a:cs typeface="Roboto"/>
              </a:rPr>
              <a:t>Kasa bakiyesi</a:t>
            </a:r>
          </a:p>
        </p:txBody>
      </p:sp>
      <p:sp>
        <p:nvSpPr>
          <p:cNvPr id="7" name="İzah 0">
            <a:extLst xmlns:a="http://schemas.openxmlformats.org/drawingml/2006/main">
              <a:ext uri="{FF2B5EF4-FFF2-40B4-BE49-F238E27FC236}">
                <a16:creationId xmlns:a16="http://schemas.microsoft.com/office/drawing/2014/main" id="{30373182-191F-4F77-9509-A8398D1C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67200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1950">
                <a:solidFill>
                  <a:srgbClr val="E8E8E8"/>
                </a:solidFill>
                <a:latin typeface="Roboto"/>
                <a:ea typeface="Roboto"/>
                <a:cs typeface="Roboto"/>
              </a:rPr>
              <a:t>Hesap kodu ve bakiye bilgisi</a:t>
            </a:r>
          </a:p>
          <a:p xmlns:a="http://schemas.openxmlformats.org/drawingml/2006/main">
            <a:pPr>
              <a:defRPr sz="1950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1950">
                <a:solidFill>
                  <a:srgbClr val="E8E8E8"/>
                </a:solidFill>
                <a:latin typeface="Roboto"/>
                <a:ea typeface="Roboto"/>
                <a:cs typeface="Roboto"/>
              </a:rPr>
              <a:t>mizan kaydından alınır.</a:t>
            </a:r>
          </a:p>
        </p:txBody>
      </p:sp>
      <p:sp>
        <p:nvSpPr>
          <p:cNvPr id="8" name="Değer 1">
            <a:extLst xmlns:a="http://schemas.openxmlformats.org/drawingml/2006/main">
              <a:ext uri="{FF2B5EF4-FFF2-40B4-BE49-F238E27FC236}">
                <a16:creationId xmlns:a16="http://schemas.microsoft.com/office/drawing/2014/main" id="{5196F4AE-78C3-430E-9D93-AF4194D1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28875"/>
            <a:ext cx="3667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FF6900"/>
                </a:solidFill>
                <a:latin typeface="Roboto"/>
                <a:ea typeface="Roboto"/>
                <a:cs typeface="Roboto"/>
              </a:defRPr>
            </a:pPr>
            <a:r>
              <a:rPr sz="3300">
                <a:solidFill>
                  <a:srgbClr val="FF6900"/>
                </a:solidFill>
                <a:latin typeface="Roboto"/>
                <a:ea typeface="Roboto"/>
                <a:cs typeface="Roboto"/>
              </a:rPr>
              <a:t>≈ %1,11</a:t>
            </a:r>
          </a:p>
        </p:txBody>
      </p:sp>
      <p:sp>
        <p:nvSpPr>
          <p:cNvPr id="9" name="Ölçüt 1">
            <a:extLst xmlns:a="http://schemas.openxmlformats.org/drawingml/2006/main">
              <a:ext uri="{FF2B5EF4-FFF2-40B4-BE49-F238E27FC236}">
                <a16:creationId xmlns:a16="http://schemas.microsoft.com/office/drawing/2014/main" id="{67BC0274-E2D8-4B8E-9A2E-FEF52F44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57575"/>
            <a:ext cx="3667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2025">
                <a:solidFill>
                  <a:srgbClr val="FFFFFF"/>
                </a:solidFill>
                <a:latin typeface="Roboto"/>
                <a:ea typeface="Roboto"/>
                <a:cs typeface="Roboto"/>
              </a:rPr>
              <a:t>Kasa / bankalar oranı</a:t>
            </a:r>
          </a:p>
        </p:txBody>
      </p:sp>
      <p:sp>
        <p:nvSpPr>
          <p:cNvPr id="10" name="İzah 1">
            <a:extLst xmlns:a="http://schemas.openxmlformats.org/drawingml/2006/main">
              <a:ext uri="{FF2B5EF4-FFF2-40B4-BE49-F238E27FC236}">
                <a16:creationId xmlns:a16="http://schemas.microsoft.com/office/drawing/2014/main" id="{6EB623B1-120E-4443-B708-BEB947FB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67200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1950">
                <a:solidFill>
                  <a:srgbClr val="E8E8E8"/>
                </a:solidFill>
                <a:latin typeface="Roboto"/>
                <a:ea typeface="Roboto"/>
                <a:cs typeface="Roboto"/>
              </a:rPr>
              <a:t>Oran hesabı, seçilen iki</a:t>
            </a:r>
          </a:p>
          <a:p xmlns:a="http://schemas.openxmlformats.org/drawingml/2006/main">
            <a:pPr>
              <a:defRPr sz="1950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1950">
                <a:solidFill>
                  <a:srgbClr val="E8E8E8"/>
                </a:solidFill>
                <a:latin typeface="Roboto"/>
                <a:ea typeface="Roboto"/>
                <a:cs typeface="Roboto"/>
              </a:rPr>
              <a:t>kaydın tutarıyla yapılır.</a:t>
            </a:r>
          </a:p>
        </p:txBody>
      </p:sp>
      <p:sp>
        <p:nvSpPr>
          <p:cNvPr id="11" name="Değer 2">
            <a:extLst xmlns:a="http://schemas.openxmlformats.org/drawingml/2006/main">
              <a:ext uri="{FF2B5EF4-FFF2-40B4-BE49-F238E27FC236}">
                <a16:creationId xmlns:a16="http://schemas.microsoft.com/office/drawing/2014/main" id="{E2DA8F61-7B40-4717-AAC9-E35C696E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28875"/>
            <a:ext cx="3667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FF6900"/>
                </a:solidFill>
                <a:latin typeface="Roboto"/>
                <a:ea typeface="Roboto"/>
                <a:cs typeface="Roboto"/>
              </a:defRPr>
            </a:pPr>
            <a:r>
              <a:rPr sz="3300">
                <a:solidFill>
                  <a:srgbClr val="FF6900"/>
                </a:solidFill>
                <a:latin typeface="Roboto"/>
                <a:ea typeface="Roboto"/>
                <a:cs typeface="Roboto"/>
              </a:rPr>
              <a:t>2,1 milyon TL</a:t>
            </a:r>
          </a:p>
        </p:txBody>
      </p:sp>
      <p:sp>
        <p:nvSpPr>
          <p:cNvPr id="12" name="Ölçüt 2">
            <a:extLst xmlns:a="http://schemas.openxmlformats.org/drawingml/2006/main">
              <a:ext uri="{FF2B5EF4-FFF2-40B4-BE49-F238E27FC236}">
                <a16:creationId xmlns:a16="http://schemas.microsoft.com/office/drawing/2014/main" id="{9352C9D4-4EA1-4D69-A8BB-1DD84ABC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57575"/>
            <a:ext cx="3667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2025">
                <a:solidFill>
                  <a:srgbClr val="FFFFFF"/>
                </a:solidFill>
                <a:latin typeface="Roboto"/>
                <a:ea typeface="Roboto"/>
                <a:cs typeface="Roboto"/>
              </a:rPr>
              <a:t>Brüt ve net alacak farkı</a:t>
            </a:r>
          </a:p>
        </p:txBody>
      </p:sp>
      <p:sp>
        <p:nvSpPr>
          <p:cNvPr id="13" name="İzah 2">
            <a:extLst xmlns:a="http://schemas.openxmlformats.org/drawingml/2006/main">
              <a:ext uri="{FF2B5EF4-FFF2-40B4-BE49-F238E27FC236}">
                <a16:creationId xmlns:a16="http://schemas.microsoft.com/office/drawing/2014/main" id="{E21C73AC-3333-4C3A-A27B-5EBFD152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67200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1950">
                <a:solidFill>
                  <a:srgbClr val="E8E8E8"/>
                </a:solidFill>
                <a:latin typeface="Roboto"/>
                <a:ea typeface="Roboto"/>
                <a:cs typeface="Roboto"/>
              </a:rPr>
              <a:t>Brüt: 22,5 milyon TL</a:t>
            </a:r>
          </a:p>
          <a:p xmlns:a="http://schemas.openxmlformats.org/drawingml/2006/main">
            <a:pPr>
              <a:defRPr sz="1950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1950">
                <a:solidFill>
                  <a:srgbClr val="E8E8E8"/>
                </a:solidFill>
                <a:latin typeface="Roboto"/>
                <a:ea typeface="Roboto"/>
                <a:cs typeface="Roboto"/>
              </a:rPr>
              <a:t>Net: 20,4 milyon TL</a:t>
            </a:r>
          </a:p>
        </p:txBody>
      </p:sp>
      <p:sp>
        <p:nvSpPr>
          <p:cNvPr id="14" name="Örnek notu">
            <a:extLst xmlns:a="http://schemas.openxmlformats.org/drawingml/2006/main">
              <a:ext uri="{FF2B5EF4-FFF2-40B4-BE49-F238E27FC236}">
                <a16:creationId xmlns:a16="http://schemas.microsoft.com/office/drawing/2014/main" id="{0E4FC0AF-A78B-4179-8532-646E29AD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054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9B9B9"/>
                </a:solidFill>
                <a:latin typeface="Roboto"/>
                <a:ea typeface="Roboto"/>
                <a:cs typeface="Roboto"/>
              </a:defRPr>
            </a:pPr>
            <a:r>
              <a:rPr sz="1650">
                <a:solidFill>
                  <a:srgbClr val="B9B9B9"/>
                </a:solidFill>
                <a:latin typeface="Roboto"/>
                <a:ea typeface="Roboto"/>
                <a:cs typeface="Roboto"/>
              </a:rPr>
              <a:t>Tutarlar projedeki örnek veri kümesine aittir. Brüt ve net değerler birbirinin yerine kullanılmaz.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aşlık">
            <a:extLst xmlns:a="http://schemas.openxmlformats.org/drawingml/2006/main">
              <a:ext uri="{FF2B5EF4-FFF2-40B4-BE49-F238E27FC236}">
                <a16:creationId xmlns:a16="http://schemas.microsoft.com/office/drawing/2014/main" id="{CE675E84-8056-4AA5-AC85-54B358ED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>
                <a:solidFill>
                  <a:srgbClr val="FFFFFF"/>
                </a:solidFill>
                <a:latin typeface="Lora"/>
                <a:ea typeface="Lora"/>
                <a:cs typeface="Lora"/>
              </a:defRPr>
            </a:pPr>
            <a:r>
              <a:rPr sz="3450">
                <a:solidFill>
                  <a:srgbClr val="FFFFFF"/>
                </a:solidFill>
                <a:latin typeface="Lora"/>
                <a:ea typeface="Lora"/>
                <a:cs typeface="Lora"/>
              </a:rPr>
              <a:t>Mevzuat araması ve kaynak gösterimi</a:t>
            </a:r>
          </a:p>
        </p:txBody>
      </p:sp>
      <p:sp>
        <p:nvSpPr>
          <p:cNvPr id="2" name="Açıklama">
            <a:extLst xmlns:a="http://schemas.openxmlformats.org/drawingml/2006/main">
              <a:ext uri="{FF2B5EF4-FFF2-40B4-BE49-F238E27FC236}">
                <a16:creationId xmlns:a16="http://schemas.microsoft.com/office/drawing/2014/main" id="{88FFC89C-7131-41B9-86DD-7CC7A2C2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100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B9B9B9"/>
                </a:solidFill>
                <a:latin typeface="Roboto"/>
                <a:ea typeface="Roboto"/>
                <a:cs typeface="Roboto"/>
              </a:defRPr>
            </a:pPr>
            <a:r>
              <a:rPr sz="1875">
                <a:solidFill>
                  <a:srgbClr val="B9B9B9"/>
                </a:solidFill>
                <a:latin typeface="Roboto"/>
                <a:ea typeface="Roboto"/>
                <a:cs typeface="Roboto"/>
              </a:rPr>
              <a:t>Yanıtın dayandığı belgeyi ve maddeyi kullanıcıya görünür kılan arama akışı.</a:t>
            </a:r>
          </a:p>
        </p:txBody>
      </p:sp>
      <p:sp>
        <p:nvSpPr>
          <p:cNvPr id="3" name="Alt bilgi">
            <a:extLst xmlns:a="http://schemas.openxmlformats.org/drawingml/2006/main">
              <a:ext uri="{FF2B5EF4-FFF2-40B4-BE49-F238E27FC236}">
                <a16:creationId xmlns:a16="http://schemas.microsoft.com/office/drawing/2014/main" id="{8035B9CC-0F4E-47C0-95FD-43F5F7B7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F8F8F"/>
                </a:solidFill>
                <a:latin typeface="Roboto"/>
                <a:ea typeface="Roboto"/>
                <a:cs typeface="Roboto"/>
              </a:defRPr>
            </a:pPr>
            <a:r>
              <a:rPr sz="1125">
                <a:solidFill>
                  <a:srgbClr val="8F8F8F"/>
                </a:solidFill>
                <a:latin typeface="Roboto"/>
                <a:ea typeface="Roboto"/>
                <a:cs typeface="Roboto"/>
              </a:rPr>
              <a:t>Finans RAG v2  •  Eralp Erboğa</a:t>
            </a:r>
          </a:p>
        </p:txBody>
      </p:sp>
      <p:sp>
        <p:nvSpPr>
          <p:cNvPr id="4" name="Sayfa">
            <a:extLst xmlns:a="http://schemas.openxmlformats.org/drawingml/2006/main">
              <a:ext uri="{FF2B5EF4-FFF2-40B4-BE49-F238E27FC236}">
                <a16:creationId xmlns:a16="http://schemas.microsoft.com/office/drawing/2014/main" id="{B9CA7BCA-2F48-45FE-8101-51B43AE2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F8F8F"/>
                </a:solidFill>
                <a:latin typeface="Roboto"/>
                <a:ea typeface="Roboto"/>
                <a:cs typeface="Roboto"/>
              </a:defRPr>
            </a:pPr>
            <a:r>
              <a:rPr sz="1125">
                <a:solidFill>
                  <a:srgbClr val="8F8F8F"/>
                </a:solidFill>
                <a:latin typeface="Roboto"/>
                <a:ea typeface="Roboto"/>
                <a:cs typeface="Roboto"/>
              </a:rPr>
              <a:t>06</a:t>
            </a:r>
          </a:p>
        </p:txBody>
      </p:sp>
      <p:sp>
        <p:nvSpPr>
          <p:cNvPr id="5" name="Hazırlık başlık">
            <a:extLst xmlns:a="http://schemas.openxmlformats.org/drawingml/2006/main">
              <a:ext uri="{FF2B5EF4-FFF2-40B4-BE49-F238E27FC236}">
                <a16:creationId xmlns:a16="http://schemas.microsoft.com/office/drawing/2014/main" id="{AE55DA96-EED8-4301-86B3-7FC3F784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519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6900"/>
                </a:solidFill>
                <a:latin typeface="Roboto"/>
                <a:ea typeface="Roboto"/>
                <a:cs typeface="Roboto"/>
              </a:defRPr>
            </a:pPr>
            <a:r>
              <a:rPr sz="2175">
                <a:solidFill>
                  <a:srgbClr val="FF6900"/>
                </a:solidFill>
                <a:latin typeface="Roboto"/>
                <a:ea typeface="Roboto"/>
                <a:cs typeface="Roboto"/>
              </a:rPr>
              <a:t>Maddelerin hazırlanması</a:t>
            </a:r>
          </a:p>
        </p:txBody>
      </p:sp>
      <p:sp>
        <p:nvSpPr>
          <p:cNvPr id="6" name="Hazırlık metin">
            <a:extLst xmlns:a="http://schemas.openxmlformats.org/drawingml/2006/main">
              <a:ext uri="{FF2B5EF4-FFF2-40B4-BE49-F238E27FC236}">
                <a16:creationId xmlns:a16="http://schemas.microsoft.com/office/drawing/2014/main" id="{D2E3939A-C68A-4EAF-B431-D826B11E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71775"/>
            <a:ext cx="519112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2025">
                <a:solidFill>
                  <a:srgbClr val="E8E8E8"/>
                </a:solidFill>
                <a:latin typeface="Roboto"/>
                <a:ea typeface="Roboto"/>
                <a:cs typeface="Roboto"/>
              </a:rPr>
              <a:t>Metinler “MADDE” başlıklarında ayrılır; aynı maddeye ait fıkralar birlikte tutulur.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2025">
                <a:solidFill>
                  <a:srgbClr val="E8E8E8"/>
                </a:solidFill>
                <a:latin typeface="Roboto"/>
                <a:ea typeface="Roboto"/>
                <a:cs typeface="Roboto"/>
              </a:rPr>
              <a:t>BGE-M3 her parçayı vektöre dönüştürür. Metin, dosya adı ve madde başlığı Qdrant’ta birlikte saklanır.</a:t>
            </a:r>
          </a:p>
        </p:txBody>
      </p:sp>
      <p:sp>
        <p:nvSpPr>
          <p:cNvPr id="7" name="Yanıt başlık">
            <a:extLst xmlns:a="http://schemas.openxmlformats.org/drawingml/2006/main">
              <a:ext uri="{FF2B5EF4-FFF2-40B4-BE49-F238E27FC236}">
                <a16:creationId xmlns:a16="http://schemas.microsoft.com/office/drawing/2014/main" id="{8737BD40-34D1-4EB3-92C8-B9689E21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519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6900"/>
                </a:solidFill>
                <a:latin typeface="Roboto"/>
                <a:ea typeface="Roboto"/>
                <a:cs typeface="Roboto"/>
              </a:defRPr>
            </a:pPr>
            <a:r>
              <a:rPr sz="2175">
                <a:solidFill>
                  <a:srgbClr val="FF6900"/>
                </a:solidFill>
                <a:latin typeface="Roboto"/>
                <a:ea typeface="Roboto"/>
                <a:cs typeface="Roboto"/>
              </a:rPr>
              <a:t>İlgili kaynağın seçilmesi</a:t>
            </a:r>
          </a:p>
        </p:txBody>
      </p:sp>
      <p:sp>
        <p:nvSpPr>
          <p:cNvPr id="8" name="Yanıt metin">
            <a:extLst xmlns:a="http://schemas.openxmlformats.org/drawingml/2006/main">
              <a:ext uri="{FF2B5EF4-FFF2-40B4-BE49-F238E27FC236}">
                <a16:creationId xmlns:a16="http://schemas.microsoft.com/office/drawing/2014/main" id="{C054E03B-F9C0-4EB1-95BD-307E8AF0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71775"/>
            <a:ext cx="519112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2025">
                <a:solidFill>
                  <a:srgbClr val="E8E8E8"/>
                </a:solidFill>
                <a:latin typeface="Roboto"/>
                <a:ea typeface="Roboto"/>
                <a:cs typeface="Roboto"/>
              </a:rPr>
              <a:t>Soruya yakın adaylar vektör aramasıyla bulunur ve sözcük eşleşmesine göre yeniden sıralanır.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2025">
                <a:solidFill>
                  <a:srgbClr val="E8E8E8"/>
                </a:solidFill>
                <a:latin typeface="Roboto"/>
                <a:ea typeface="Roboto"/>
                <a:cs typeface="Roboto"/>
              </a:rPr>
              <a:t>Yanıttaki sayı ve birimler kaynakla karşılaştırılır. Gerektiğinde doğrudan kaynak satırları gösterilir.</a:t>
            </a:r>
          </a:p>
        </p:txBody>
      </p:sp>
      <p:sp>
        <p:nvSpPr>
          <p:cNvPr id="9" name="Fayda">
            <a:extLst xmlns:a="http://schemas.openxmlformats.org/drawingml/2006/main">
              <a:ext uri="{FF2B5EF4-FFF2-40B4-BE49-F238E27FC236}">
                <a16:creationId xmlns:a16="http://schemas.microsoft.com/office/drawing/2014/main" id="{26B6B8F6-A3DD-4CE9-9F53-DE398130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F6900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FF6900"/>
                </a:solidFill>
                <a:latin typeface="Roboto"/>
                <a:ea typeface="Roboto"/>
                <a:cs typeface="Roboto"/>
              </a:rPr>
              <a:t>Kullanıcı cevabı okurken dayanak belgeyi ve ilgili bölümü de inceleyebilir.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aşlık">
            <a:extLst xmlns:a="http://schemas.openxmlformats.org/drawingml/2006/main">
              <a:ext uri="{FF2B5EF4-FFF2-40B4-BE49-F238E27FC236}">
                <a16:creationId xmlns:a16="http://schemas.microsoft.com/office/drawing/2014/main" id="{20524A64-7918-4415-AF3D-C957749D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>
                <a:solidFill>
                  <a:srgbClr val="FFFFFF"/>
                </a:solidFill>
                <a:latin typeface="Lora"/>
                <a:ea typeface="Lora"/>
                <a:cs typeface="Lora"/>
              </a:defRPr>
            </a:pPr>
            <a:r>
              <a:rPr sz="3450">
                <a:solidFill>
                  <a:srgbClr val="FFFFFF"/>
                </a:solidFill>
                <a:latin typeface="Lora"/>
                <a:ea typeface="Lora"/>
                <a:cs typeface="Lora"/>
              </a:rPr>
              <a:t>Mali kayıt ve mevzuatın birlikte kullanımı</a:t>
            </a:r>
          </a:p>
        </p:txBody>
      </p:sp>
      <p:sp>
        <p:nvSpPr>
          <p:cNvPr id="2" name="Açıklama">
            <a:extLst xmlns:a="http://schemas.openxmlformats.org/drawingml/2006/main">
              <a:ext uri="{FF2B5EF4-FFF2-40B4-BE49-F238E27FC236}">
                <a16:creationId xmlns:a16="http://schemas.microsoft.com/office/drawing/2014/main" id="{5BD6C5BD-6942-4315-B0A8-1AAE1CBB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100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B9B9B9"/>
                </a:solidFill>
                <a:latin typeface="Roboto"/>
                <a:ea typeface="Roboto"/>
                <a:cs typeface="Roboto"/>
              </a:defRPr>
            </a:pPr>
            <a:r>
              <a:rPr sz="1875">
                <a:solidFill>
                  <a:srgbClr val="B9B9B9"/>
                </a:solidFill>
                <a:latin typeface="Roboto"/>
                <a:ea typeface="Roboto"/>
                <a:cs typeface="Roboto"/>
              </a:rPr>
              <a:t>Karma sorularda iki veri kaynağı aynı yanıt içinde değerlendirilir.</a:t>
            </a:r>
          </a:p>
        </p:txBody>
      </p:sp>
      <p:sp>
        <p:nvSpPr>
          <p:cNvPr id="3" name="Alt bilgi">
            <a:extLst xmlns:a="http://schemas.openxmlformats.org/drawingml/2006/main">
              <a:ext uri="{FF2B5EF4-FFF2-40B4-BE49-F238E27FC236}">
                <a16:creationId xmlns:a16="http://schemas.microsoft.com/office/drawing/2014/main" id="{3992A50B-BC31-4BDB-83D7-B830DD9C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F8F8F"/>
                </a:solidFill>
                <a:latin typeface="Roboto"/>
                <a:ea typeface="Roboto"/>
                <a:cs typeface="Roboto"/>
              </a:defRPr>
            </a:pPr>
            <a:r>
              <a:rPr sz="1125">
                <a:solidFill>
                  <a:srgbClr val="8F8F8F"/>
                </a:solidFill>
                <a:latin typeface="Roboto"/>
                <a:ea typeface="Roboto"/>
                <a:cs typeface="Roboto"/>
              </a:rPr>
              <a:t>Finans RAG v2  •  Eralp Erboğa</a:t>
            </a:r>
          </a:p>
        </p:txBody>
      </p:sp>
      <p:sp>
        <p:nvSpPr>
          <p:cNvPr id="4" name="Sayfa">
            <a:extLst xmlns:a="http://schemas.openxmlformats.org/drawingml/2006/main">
              <a:ext uri="{FF2B5EF4-FFF2-40B4-BE49-F238E27FC236}">
                <a16:creationId xmlns:a16="http://schemas.microsoft.com/office/drawing/2014/main" id="{CCF34FE4-16EA-428E-8DC6-F7637790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F8F8F"/>
                </a:solidFill>
                <a:latin typeface="Roboto"/>
                <a:ea typeface="Roboto"/>
                <a:cs typeface="Roboto"/>
              </a:defRPr>
            </a:pPr>
            <a:r>
              <a:rPr sz="1125">
                <a:solidFill>
                  <a:srgbClr val="8F8F8F"/>
                </a:solidFill>
                <a:latin typeface="Roboto"/>
                <a:ea typeface="Roboto"/>
                <a:cs typeface="Roboto"/>
              </a:rPr>
              <a:t>07</a:t>
            </a:r>
          </a:p>
        </p:txBody>
      </p:sp>
      <p:sp>
        <p:nvSpPr>
          <p:cNvPr id="5" name="Örnek soru">
            <a:extLst xmlns:a="http://schemas.openxmlformats.org/drawingml/2006/main">
              <a:ext uri="{FF2B5EF4-FFF2-40B4-BE49-F238E27FC236}">
                <a16:creationId xmlns:a16="http://schemas.microsoft.com/office/drawing/2014/main" id="{C6739484-A827-457C-BAE4-FAF75EA3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4312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FF6900"/>
                </a:solidFill>
                <a:latin typeface="Roboto"/>
                <a:ea typeface="Roboto"/>
                <a:cs typeface="Roboto"/>
              </a:defRPr>
            </a:pPr>
            <a:r>
              <a:rPr sz="2325">
                <a:solidFill>
                  <a:srgbClr val="FF6900"/>
                </a:solidFill>
                <a:latin typeface="Roboto"/>
                <a:ea typeface="Roboto"/>
                <a:cs typeface="Roboto"/>
              </a:rPr>
              <a:t>Örnek: “253 numaralı hesaptaki yatırımın DVT’ye giriş koşulları nelerdir?”</a:t>
            </a:r>
          </a:p>
        </p:txBody>
      </p:sp>
      <p:sp>
        <p:nvSpPr>
          <p:cNvPr id="6" name="Mali taraf başlık">
            <a:extLst xmlns:a="http://schemas.openxmlformats.org/drawingml/2006/main">
              <a:ext uri="{FF2B5EF4-FFF2-40B4-BE49-F238E27FC236}">
                <a16:creationId xmlns:a16="http://schemas.microsoft.com/office/drawing/2014/main" id="{3F40D51D-4553-414B-9069-7102FA6A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28975"/>
            <a:ext cx="519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6900"/>
                </a:solidFill>
                <a:latin typeface="Roboto"/>
                <a:ea typeface="Roboto"/>
                <a:cs typeface="Roboto"/>
              </a:defRPr>
            </a:pPr>
            <a:r>
              <a:rPr sz="2175">
                <a:solidFill>
                  <a:srgbClr val="FF6900"/>
                </a:solidFill>
                <a:latin typeface="Roboto"/>
                <a:ea typeface="Roboto"/>
                <a:cs typeface="Roboto"/>
              </a:rPr>
              <a:t>Mali kayıt</a:t>
            </a:r>
          </a:p>
        </p:txBody>
      </p:sp>
      <p:sp>
        <p:nvSpPr>
          <p:cNvPr id="7" name="Mali taraf metin">
            <a:extLst xmlns:a="http://schemas.openxmlformats.org/drawingml/2006/main">
              <a:ext uri="{FF2B5EF4-FFF2-40B4-BE49-F238E27FC236}">
                <a16:creationId xmlns:a16="http://schemas.microsoft.com/office/drawing/2014/main" id="{596A7096-3424-4490-928D-12BE11DA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0"/>
            <a:ext cx="519112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2025">
                <a:solidFill>
                  <a:srgbClr val="E8E8E8"/>
                </a:solidFill>
                <a:latin typeface="Roboto"/>
                <a:ea typeface="Roboto"/>
                <a:cs typeface="Roboto"/>
              </a:rPr>
              <a:t>Hesap adı ve tutarı SQLite’tan alınır.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2025">
                <a:solidFill>
                  <a:srgbClr val="E8E8E8"/>
                </a:solidFill>
                <a:latin typeface="Roboto"/>
                <a:ea typeface="Roboto"/>
                <a:cs typeface="Roboto"/>
              </a:rPr>
              <a:t>Böylece mevzuattaki koşulların hangi mali kalemle ilişkilendirildiği görülebilir.</a:t>
            </a:r>
          </a:p>
        </p:txBody>
      </p:sp>
      <p:sp>
        <p:nvSpPr>
          <p:cNvPr id="8" name="Mevzuat taraf başlık">
            <a:extLst xmlns:a="http://schemas.openxmlformats.org/drawingml/2006/main">
              <a:ext uri="{FF2B5EF4-FFF2-40B4-BE49-F238E27FC236}">
                <a16:creationId xmlns:a16="http://schemas.microsoft.com/office/drawing/2014/main" id="{8A5FBA7D-1482-40EB-8C0F-BE3AA72E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28975"/>
            <a:ext cx="519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6900"/>
                </a:solidFill>
                <a:latin typeface="Roboto"/>
                <a:ea typeface="Roboto"/>
                <a:cs typeface="Roboto"/>
              </a:defRPr>
            </a:pPr>
            <a:r>
              <a:rPr sz="2175">
                <a:solidFill>
                  <a:srgbClr val="FF6900"/>
                </a:solidFill>
                <a:latin typeface="Roboto"/>
                <a:ea typeface="Roboto"/>
                <a:cs typeface="Roboto"/>
              </a:rPr>
              <a:t>İlgili koşullar</a:t>
            </a:r>
          </a:p>
        </p:txBody>
      </p:sp>
      <p:sp>
        <p:nvSpPr>
          <p:cNvPr id="9" name="Mevzuat taraf metin">
            <a:extLst xmlns:a="http://schemas.openxmlformats.org/drawingml/2006/main">
              <a:ext uri="{FF2B5EF4-FFF2-40B4-BE49-F238E27FC236}">
                <a16:creationId xmlns:a16="http://schemas.microsoft.com/office/drawing/2014/main" id="{06EA3543-AD30-4984-86FD-DE5D9140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10000"/>
            <a:ext cx="519112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2025">
                <a:solidFill>
                  <a:srgbClr val="E8E8E8"/>
                </a:solidFill>
                <a:latin typeface="Roboto"/>
                <a:ea typeface="Roboto"/>
                <a:cs typeface="Roboto"/>
              </a:rPr>
              <a:t>Kaynak maddesi Qdrant’tan getirilir.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2025">
                <a:solidFill>
                  <a:srgbClr val="E8E8E8"/>
                </a:solidFill>
                <a:latin typeface="Roboto"/>
                <a:ea typeface="Roboto"/>
                <a:cs typeface="Roboto"/>
              </a:rPr>
              <a:t>Teknik tamamlanma veya idari onay kaydı yoksa, kesin uygunluk kararı yerine gerekli ek bilgiler belirtilir.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aşlık">
            <a:extLst xmlns:a="http://schemas.openxmlformats.org/drawingml/2006/main">
              <a:ext uri="{FF2B5EF4-FFF2-40B4-BE49-F238E27FC236}">
                <a16:creationId xmlns:a16="http://schemas.microsoft.com/office/drawing/2014/main" id="{768FA344-4A2A-42D1-9E29-6E581B2F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>
                <a:solidFill>
                  <a:srgbClr val="FFFFFF"/>
                </a:solidFill>
                <a:latin typeface="Lora"/>
                <a:ea typeface="Lora"/>
                <a:cs typeface="Lora"/>
              </a:defRPr>
            </a:pPr>
            <a:r>
              <a:rPr sz="3450">
                <a:solidFill>
                  <a:srgbClr val="FFFFFF"/>
                </a:solidFill>
                <a:latin typeface="Lora"/>
                <a:ea typeface="Lora"/>
                <a:cs typeface="Lora"/>
              </a:rPr>
              <a:t>Kullanıcı arayüzü</a:t>
            </a:r>
          </a:p>
        </p:txBody>
      </p:sp>
      <p:sp>
        <p:nvSpPr>
          <p:cNvPr id="2" name="Açıklama">
            <a:extLst xmlns:a="http://schemas.openxmlformats.org/drawingml/2006/main">
              <a:ext uri="{FF2B5EF4-FFF2-40B4-BE49-F238E27FC236}">
                <a16:creationId xmlns:a16="http://schemas.microsoft.com/office/drawing/2014/main" id="{D84DED05-D1C0-4584-8715-5A271A57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100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B9B9B9"/>
                </a:solidFill>
                <a:latin typeface="Roboto"/>
                <a:ea typeface="Roboto"/>
                <a:cs typeface="Roboto"/>
              </a:defRPr>
            </a:pPr>
            <a:r>
              <a:rPr sz="1875">
                <a:solidFill>
                  <a:srgbClr val="B9B9B9"/>
                </a:solidFill>
                <a:latin typeface="Roboto"/>
                <a:ea typeface="Roboto"/>
                <a:cs typeface="Roboto"/>
              </a:rPr>
              <a:t>Soru sorma, mali kayıtları inceleme ve hesap işlemleri tek ekranda.</a:t>
            </a:r>
          </a:p>
        </p:txBody>
      </p:sp>
      <p:sp>
        <p:nvSpPr>
          <p:cNvPr id="3" name="Alt bilgi">
            <a:extLst xmlns:a="http://schemas.openxmlformats.org/drawingml/2006/main">
              <a:ext uri="{FF2B5EF4-FFF2-40B4-BE49-F238E27FC236}">
                <a16:creationId xmlns:a16="http://schemas.microsoft.com/office/drawing/2014/main" id="{572F40AF-A1A3-4494-ABB0-C69B2CE4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F8F8F"/>
                </a:solidFill>
                <a:latin typeface="Roboto"/>
                <a:ea typeface="Roboto"/>
                <a:cs typeface="Roboto"/>
              </a:defRPr>
            </a:pPr>
            <a:r>
              <a:rPr sz="1125">
                <a:solidFill>
                  <a:srgbClr val="8F8F8F"/>
                </a:solidFill>
                <a:latin typeface="Roboto"/>
                <a:ea typeface="Roboto"/>
                <a:cs typeface="Roboto"/>
              </a:rPr>
              <a:t>Finans RAG v2  •  Eralp Erboğa</a:t>
            </a:r>
          </a:p>
        </p:txBody>
      </p:sp>
      <p:sp>
        <p:nvSpPr>
          <p:cNvPr id="4" name="Sayfa">
            <a:extLst xmlns:a="http://schemas.openxmlformats.org/drawingml/2006/main">
              <a:ext uri="{FF2B5EF4-FFF2-40B4-BE49-F238E27FC236}">
                <a16:creationId xmlns:a16="http://schemas.microsoft.com/office/drawing/2014/main" id="{09EDE4AF-5815-4AFF-B03D-34367B14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F8F8F"/>
                </a:solidFill>
                <a:latin typeface="Roboto"/>
                <a:ea typeface="Roboto"/>
                <a:cs typeface="Roboto"/>
              </a:defRPr>
            </a:pPr>
            <a:r>
              <a:rPr sz="1125">
                <a:solidFill>
                  <a:srgbClr val="8F8F8F"/>
                </a:solidFill>
                <a:latin typeface="Roboto"/>
                <a:ea typeface="Roboto"/>
                <a:cs typeface="Roboto"/>
              </a:rPr>
              <a:t>08</a:t>
            </a:r>
          </a:p>
        </p:txBody>
      </p:sp>
      <p:sp>
        <p:nvSpPr>
          <p:cNvPr id="5" name="Arayüz vurgusu">
            <a:extLst xmlns:a="http://schemas.openxmlformats.org/drawingml/2006/main">
              <a:ext uri="{FF2B5EF4-FFF2-40B4-BE49-F238E27FC236}">
                <a16:creationId xmlns:a16="http://schemas.microsoft.com/office/drawing/2014/main" id="{5FC12337-1C78-4F91-BAA1-5BB62678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43125"/>
            <a:ext cx="538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6900"/>
                </a:solidFill>
                <a:latin typeface="Roboto"/>
                <a:ea typeface="Roboto"/>
                <a:cs typeface="Roboto"/>
              </a:defRPr>
            </a:pPr>
            <a:r>
              <a:rPr sz="2250">
                <a:solidFill>
                  <a:srgbClr val="FF6900"/>
                </a:solidFill>
                <a:latin typeface="Roboto"/>
                <a:ea typeface="Roboto"/>
                <a:cs typeface="Roboto"/>
              </a:rPr>
              <a:t>Günlük kullanıma uygun akış</a:t>
            </a:r>
          </a:p>
        </p:txBody>
      </p:sp>
      <p:sp>
        <p:nvSpPr>
          <p:cNvPr id="6" name="Arayüz metni">
            <a:extLst xmlns:a="http://schemas.openxmlformats.org/drawingml/2006/main">
              <a:ext uri="{FF2B5EF4-FFF2-40B4-BE49-F238E27FC236}">
                <a16:creationId xmlns:a16="http://schemas.microsoft.com/office/drawing/2014/main" id="{FB76BC0B-9412-472E-B005-8FB35FE1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86075"/>
            <a:ext cx="53340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2025">
                <a:solidFill>
                  <a:srgbClr val="E8E8E8"/>
                </a:solidFill>
                <a:latin typeface="Roboto"/>
                <a:ea typeface="Roboto"/>
                <a:cs typeface="Roboto"/>
              </a:rPr>
              <a:t>Sohbet alanından finans veya mevzuat sorusu gönderilir.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2025">
                <a:solidFill>
                  <a:srgbClr val="E8E8E8"/>
                </a:solidFill>
                <a:latin typeface="Roboto"/>
                <a:ea typeface="Roboto"/>
                <a:cs typeface="Roboto"/>
              </a:rPr>
              <a:t>Yan panelden mizan hesapları açılır ve bilanço denkliği kontrol edilir.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2025">
                <a:solidFill>
                  <a:srgbClr val="E8E8E8"/>
                </a:solidFill>
                <a:latin typeface="Roboto"/>
                <a:ea typeface="Roboto"/>
                <a:cs typeface="Roboto"/>
              </a:rPr>
              <a:t>Yanıtlarda işlem kanalı ile kaynak adı ve bölüm bilgisi gösterilir.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2025">
                <a:solidFill>
                  <a:srgbClr val="E8E8E8"/>
                </a:solidFill>
                <a:latin typeface="Roboto"/>
                <a:ea typeface="Roboto"/>
                <a:cs typeface="Roboto"/>
              </a:rPr>
              <a:t>Yeni bir konuya geçerken sohbet geçmişi temizlenebilir.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cb124e80f44505"/>
          <a:stretch xmlns:a="http://schemas.openxmlformats.org/drawingml/2006/main"/>
        </p:blipFill>
        <p:spPr>
          <a:xfrm xmlns:a="http://schemas.openxmlformats.org/drawingml/2006/main">
            <a:off x="6334125" y="2010833"/>
            <a:ext cx="5334000" cy="407458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aşlık">
            <a:extLst xmlns:a="http://schemas.openxmlformats.org/drawingml/2006/main">
              <a:ext uri="{FF2B5EF4-FFF2-40B4-BE49-F238E27FC236}">
                <a16:creationId xmlns:a16="http://schemas.microsoft.com/office/drawing/2014/main" id="{E9B674CA-C37E-4F30-844A-5AC966D7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>
                <a:solidFill>
                  <a:srgbClr val="FFFFFF"/>
                </a:solidFill>
                <a:latin typeface="Lora"/>
                <a:ea typeface="Lora"/>
                <a:cs typeface="Lora"/>
              </a:defRPr>
            </a:pPr>
            <a:r>
              <a:rPr sz="3450">
                <a:solidFill>
                  <a:srgbClr val="FFFFFF"/>
                </a:solidFill>
                <a:latin typeface="Lora"/>
                <a:ea typeface="Lora"/>
                <a:cs typeface="Lora"/>
              </a:rPr>
              <a:t>Hesap oluşturma ve giriş</a:t>
            </a:r>
          </a:p>
        </p:txBody>
      </p:sp>
      <p:sp>
        <p:nvSpPr>
          <p:cNvPr id="2" name="Açıklama">
            <a:extLst xmlns:a="http://schemas.openxmlformats.org/drawingml/2006/main">
              <a:ext uri="{FF2B5EF4-FFF2-40B4-BE49-F238E27FC236}">
                <a16:creationId xmlns:a16="http://schemas.microsoft.com/office/drawing/2014/main" id="{B7ED6992-7BF4-40BB-89FA-5EDACFD8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100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B9B9B9"/>
                </a:solidFill>
                <a:latin typeface="Roboto"/>
                <a:ea typeface="Roboto"/>
                <a:cs typeface="Roboto"/>
              </a:defRPr>
            </a:pPr>
            <a:r>
              <a:rPr sz="1875">
                <a:solidFill>
                  <a:srgbClr val="B9B9B9"/>
                </a:solidFill>
                <a:latin typeface="Roboto"/>
                <a:ea typeface="Roboto"/>
                <a:cs typeface="Roboto"/>
              </a:rPr>
              <a:t>Her kullanıcı kendi adı ve şifresiyle uygulamaya giriş yapar.</a:t>
            </a:r>
          </a:p>
        </p:txBody>
      </p:sp>
      <p:sp>
        <p:nvSpPr>
          <p:cNvPr id="3" name="Alt bilgi">
            <a:extLst xmlns:a="http://schemas.openxmlformats.org/drawingml/2006/main">
              <a:ext uri="{FF2B5EF4-FFF2-40B4-BE49-F238E27FC236}">
                <a16:creationId xmlns:a16="http://schemas.microsoft.com/office/drawing/2014/main" id="{30B8B4CF-C6C1-47CF-9257-C2901732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F8F8F"/>
                </a:solidFill>
                <a:latin typeface="Roboto"/>
                <a:ea typeface="Roboto"/>
                <a:cs typeface="Roboto"/>
              </a:defRPr>
            </a:pPr>
            <a:r>
              <a:rPr sz="1125">
                <a:solidFill>
                  <a:srgbClr val="8F8F8F"/>
                </a:solidFill>
                <a:latin typeface="Roboto"/>
                <a:ea typeface="Roboto"/>
                <a:cs typeface="Roboto"/>
              </a:rPr>
              <a:t>Finans RAG v2  •  Eralp Erboğa</a:t>
            </a:r>
          </a:p>
        </p:txBody>
      </p:sp>
      <p:sp>
        <p:nvSpPr>
          <p:cNvPr id="4" name="Sayfa">
            <a:extLst xmlns:a="http://schemas.openxmlformats.org/drawingml/2006/main">
              <a:ext uri="{FF2B5EF4-FFF2-40B4-BE49-F238E27FC236}">
                <a16:creationId xmlns:a16="http://schemas.microsoft.com/office/drawing/2014/main" id="{E37C8BF4-87CF-4F0C-8AA4-D0BE7546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F8F8F"/>
                </a:solidFill>
                <a:latin typeface="Roboto"/>
                <a:ea typeface="Roboto"/>
                <a:cs typeface="Roboto"/>
              </a:defRPr>
            </a:pPr>
            <a:r>
              <a:rPr sz="1125">
                <a:solidFill>
                  <a:srgbClr val="8F8F8F"/>
                </a:solidFill>
                <a:latin typeface="Roboto"/>
                <a:ea typeface="Roboto"/>
                <a:cs typeface="Roboto"/>
              </a:rPr>
              <a:t>09</a:t>
            </a:r>
          </a:p>
        </p:txBody>
      </p:sp>
      <p:sp>
        <p:nvSpPr>
          <p:cNvPr id="5" name="Hesap vurgusu">
            <a:extLst xmlns:a="http://schemas.openxmlformats.org/drawingml/2006/main">
              <a:ext uri="{FF2B5EF4-FFF2-40B4-BE49-F238E27FC236}">
                <a16:creationId xmlns:a16="http://schemas.microsoft.com/office/drawing/2014/main" id="{3F7EF883-56CC-41AA-9353-87B867BC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43125"/>
            <a:ext cx="538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6900"/>
                </a:solidFill>
                <a:latin typeface="Roboto"/>
                <a:ea typeface="Roboto"/>
                <a:cs typeface="Roboto"/>
              </a:defRPr>
            </a:pPr>
            <a:r>
              <a:rPr sz="2250">
                <a:solidFill>
                  <a:srgbClr val="FF6900"/>
                </a:solidFill>
                <a:latin typeface="Roboto"/>
                <a:ea typeface="Roboto"/>
                <a:cs typeface="Roboto"/>
              </a:rPr>
              <a:t>Kayıt ve giriş</a:t>
            </a:r>
          </a:p>
        </p:txBody>
      </p:sp>
      <p:sp>
        <p:nvSpPr>
          <p:cNvPr id="6" name="Hesap metni">
            <a:extLst xmlns:a="http://schemas.openxmlformats.org/drawingml/2006/main">
              <a:ext uri="{FF2B5EF4-FFF2-40B4-BE49-F238E27FC236}">
                <a16:creationId xmlns:a16="http://schemas.microsoft.com/office/drawing/2014/main" id="{7ADABE1A-99D9-431A-8148-F9529B8C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86075"/>
            <a:ext cx="53340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1950">
                <a:solidFill>
                  <a:srgbClr val="E8E8E8"/>
                </a:solidFill>
                <a:latin typeface="Roboto"/>
                <a:ea typeface="Roboto"/>
                <a:cs typeface="Roboto"/>
              </a:rPr>
              <a:t>Yeni hesap, yöneticinin belirlediği kayıt anahtarıyla oluşturulur.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1950">
                <a:solidFill>
                  <a:srgbClr val="E8E8E8"/>
                </a:solidFill>
                <a:latin typeface="Roboto"/>
                <a:ea typeface="Roboto"/>
                <a:cs typeface="Roboto"/>
              </a:rPr>
              <a:t>Kullanıcı kendi şifresini belirler ve hesap kurtarma kodunu saklar.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1950">
                <a:solidFill>
                  <a:srgbClr val="E8E8E8"/>
                </a:solidFill>
                <a:latin typeface="Roboto"/>
                <a:ea typeface="Roboto"/>
                <a:cs typeface="Roboto"/>
              </a:rPr>
              <a:t>Parolalar ve kurtarma kodları düz metin olarak kaydedilmez.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1950">
                <a:solidFill>
                  <a:srgbClr val="E8E8E8"/>
                </a:solidFill>
                <a:latin typeface="Roboto"/>
                <a:ea typeface="Roboto"/>
                <a:cs typeface="Roboto"/>
              </a:rPr>
              <a:t>Sohbet geçmişi oturuma özeldir; mevcut sürümde kullanıcılar aynı örnek verilere erişir.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033e11c95443ec"/>
          <a:stretch xmlns:a="http://schemas.openxmlformats.org/drawingml/2006/main"/>
        </p:blipFill>
        <p:spPr>
          <a:xfrm xmlns:a="http://schemas.openxmlformats.org/drawingml/2006/main">
            <a:off x="6334125" y="2010833"/>
            <a:ext cx="5334000" cy="407458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aşlık">
            <a:extLst xmlns:a="http://schemas.openxmlformats.org/drawingml/2006/main">
              <a:ext uri="{FF2B5EF4-FFF2-40B4-BE49-F238E27FC236}">
                <a16:creationId xmlns:a16="http://schemas.microsoft.com/office/drawing/2014/main" id="{292CBB38-5B0A-40FD-9218-C7F5A5D7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>
                <a:solidFill>
                  <a:srgbClr val="FFFFFF"/>
                </a:solidFill>
                <a:latin typeface="Lora"/>
                <a:ea typeface="Lora"/>
                <a:cs typeface="Lora"/>
              </a:defRPr>
            </a:pPr>
            <a:r>
              <a:rPr sz="3450">
                <a:solidFill>
                  <a:srgbClr val="FFFFFF"/>
                </a:solidFill>
                <a:latin typeface="Lora"/>
                <a:ea typeface="Lora"/>
                <a:cs typeface="Lora"/>
              </a:rPr>
              <a:t>Şifre işlemleri ve erişim kontrolleri</a:t>
            </a:r>
          </a:p>
        </p:txBody>
      </p:sp>
      <p:sp>
        <p:nvSpPr>
          <p:cNvPr id="2" name="Açıklama">
            <a:extLst xmlns:a="http://schemas.openxmlformats.org/drawingml/2006/main">
              <a:ext uri="{FF2B5EF4-FFF2-40B4-BE49-F238E27FC236}">
                <a16:creationId xmlns:a16="http://schemas.microsoft.com/office/drawing/2014/main" id="{3E26F4A4-85DB-47C4-B2FE-781B724A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100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B9B9B9"/>
                </a:solidFill>
                <a:latin typeface="Roboto"/>
                <a:ea typeface="Roboto"/>
                <a:cs typeface="Roboto"/>
              </a:defRPr>
            </a:pPr>
            <a:r>
              <a:rPr sz="1875">
                <a:solidFill>
                  <a:srgbClr val="B9B9B9"/>
                </a:solidFill>
                <a:latin typeface="Roboto"/>
                <a:ea typeface="Roboto"/>
                <a:cs typeface="Roboto"/>
              </a:rPr>
              <a:t>Hesap kurtarma, oturum yönetimi ve yerel erişim sınırları birlikte uygulanır.</a:t>
            </a:r>
          </a:p>
        </p:txBody>
      </p:sp>
      <p:sp>
        <p:nvSpPr>
          <p:cNvPr id="3" name="Alt bilgi">
            <a:extLst xmlns:a="http://schemas.openxmlformats.org/drawingml/2006/main">
              <a:ext uri="{FF2B5EF4-FFF2-40B4-BE49-F238E27FC236}">
                <a16:creationId xmlns:a16="http://schemas.microsoft.com/office/drawing/2014/main" id="{E915747C-B760-4321-B332-4287BAC7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F8F8F"/>
                </a:solidFill>
                <a:latin typeface="Roboto"/>
                <a:ea typeface="Roboto"/>
                <a:cs typeface="Roboto"/>
              </a:defRPr>
            </a:pPr>
            <a:r>
              <a:rPr sz="1125">
                <a:solidFill>
                  <a:srgbClr val="8F8F8F"/>
                </a:solidFill>
                <a:latin typeface="Roboto"/>
                <a:ea typeface="Roboto"/>
                <a:cs typeface="Roboto"/>
              </a:rPr>
              <a:t>Finans RAG v2  •  Eralp Erboğa</a:t>
            </a:r>
          </a:p>
        </p:txBody>
      </p:sp>
      <p:sp>
        <p:nvSpPr>
          <p:cNvPr id="4" name="Sayfa">
            <a:extLst xmlns:a="http://schemas.openxmlformats.org/drawingml/2006/main">
              <a:ext uri="{FF2B5EF4-FFF2-40B4-BE49-F238E27FC236}">
                <a16:creationId xmlns:a16="http://schemas.microsoft.com/office/drawing/2014/main" id="{BB0595F2-15F8-464D-9CB2-1135D183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F8F8F"/>
                </a:solidFill>
                <a:latin typeface="Roboto"/>
                <a:ea typeface="Roboto"/>
                <a:cs typeface="Roboto"/>
              </a:defRPr>
            </a:pPr>
            <a:r>
              <a:rPr sz="1125">
                <a:solidFill>
                  <a:srgbClr val="8F8F8F"/>
                </a:solidFill>
                <a:latin typeface="Roboto"/>
                <a:ea typeface="Roboto"/>
                <a:cs typeface="Roboto"/>
              </a:rPr>
              <a:t>10</a:t>
            </a:r>
          </a:p>
        </p:txBody>
      </p:sp>
      <p:sp>
        <p:nvSpPr>
          <p:cNvPr id="5" name="Şifre başlık">
            <a:extLst xmlns:a="http://schemas.openxmlformats.org/drawingml/2006/main">
              <a:ext uri="{FF2B5EF4-FFF2-40B4-BE49-F238E27FC236}">
                <a16:creationId xmlns:a16="http://schemas.microsoft.com/office/drawing/2014/main" id="{D459EB64-30BC-4640-95FB-042DEDED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519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6900"/>
                </a:solidFill>
                <a:latin typeface="Roboto"/>
                <a:ea typeface="Roboto"/>
                <a:cs typeface="Roboto"/>
              </a:defRPr>
            </a:pPr>
            <a:r>
              <a:rPr sz="2175">
                <a:solidFill>
                  <a:srgbClr val="FF6900"/>
                </a:solidFill>
                <a:latin typeface="Roboto"/>
                <a:ea typeface="Roboto"/>
                <a:cs typeface="Roboto"/>
              </a:rPr>
              <a:t>Hesap erişiminin korunması</a:t>
            </a:r>
          </a:p>
        </p:txBody>
      </p:sp>
      <p:sp>
        <p:nvSpPr>
          <p:cNvPr id="6" name="Şifre metin">
            <a:extLst xmlns:a="http://schemas.openxmlformats.org/drawingml/2006/main">
              <a:ext uri="{FF2B5EF4-FFF2-40B4-BE49-F238E27FC236}">
                <a16:creationId xmlns:a16="http://schemas.microsoft.com/office/drawing/2014/main" id="{A15F02A7-EB54-4D78-B663-9AD3D956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71775"/>
            <a:ext cx="519112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2025">
                <a:solidFill>
                  <a:srgbClr val="E8E8E8"/>
                </a:solidFill>
                <a:latin typeface="Roboto"/>
                <a:ea typeface="Roboto"/>
                <a:cs typeface="Roboto"/>
              </a:rPr>
              <a:t>“Şifremi unuttum” bölümünde kurtarma koduyla yeni şifre belirlenir.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2025">
                <a:solidFill>
                  <a:srgbClr val="E8E8E8"/>
                </a:solidFill>
                <a:latin typeface="Roboto"/>
                <a:ea typeface="Roboto"/>
                <a:cs typeface="Roboto"/>
              </a:rPr>
              <a:t>Giriş yapan kullanıcı mevcut şifresini doğrulayarak şifresini değiştirebilir.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2025">
                <a:solidFill>
                  <a:srgbClr val="E8E8E8"/>
                </a:solidFill>
                <a:latin typeface="Roboto"/>
                <a:ea typeface="Roboto"/>
                <a:cs typeface="Roboto"/>
              </a:rPr>
              <a:t>Başarılı işlemde eski kurtarma kodu iptal edilir ve diğer oturumlar yeniden giriş ister.</a:t>
            </a:r>
          </a:p>
        </p:txBody>
      </p:sp>
      <p:sp>
        <p:nvSpPr>
          <p:cNvPr id="7" name="Kontrol başlık">
            <a:extLst xmlns:a="http://schemas.openxmlformats.org/drawingml/2006/main">
              <a:ext uri="{FF2B5EF4-FFF2-40B4-BE49-F238E27FC236}">
                <a16:creationId xmlns:a16="http://schemas.microsoft.com/office/drawing/2014/main" id="{70338824-920E-4044-B5A9-3209409F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519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6900"/>
                </a:solidFill>
                <a:latin typeface="Roboto"/>
                <a:ea typeface="Roboto"/>
                <a:cs typeface="Roboto"/>
              </a:defRPr>
            </a:pPr>
            <a:r>
              <a:rPr sz="2175">
                <a:solidFill>
                  <a:srgbClr val="FF6900"/>
                </a:solidFill>
                <a:latin typeface="Roboto"/>
                <a:ea typeface="Roboto"/>
                <a:cs typeface="Roboto"/>
              </a:rPr>
              <a:t>Kontrollü kullanım</a:t>
            </a:r>
          </a:p>
        </p:txBody>
      </p:sp>
      <p:sp>
        <p:nvSpPr>
          <p:cNvPr id="8" name="Kontrol metin">
            <a:extLst xmlns:a="http://schemas.openxmlformats.org/drawingml/2006/main">
              <a:ext uri="{FF2B5EF4-FFF2-40B4-BE49-F238E27FC236}">
                <a16:creationId xmlns:a16="http://schemas.microsoft.com/office/drawing/2014/main" id="{F2F59A63-E5E2-4BDB-B66E-12008645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71775"/>
            <a:ext cx="519112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2025">
                <a:solidFill>
                  <a:srgbClr val="E8E8E8"/>
                </a:solidFill>
                <a:latin typeface="Roboto"/>
                <a:ea typeface="Roboto"/>
                <a:cs typeface="Roboto"/>
              </a:rPr>
              <a:t>Tekrarlanan hatalı denemelerde geçici sınır uygulanır; oturum süresi denetlenir.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2025">
                <a:solidFill>
                  <a:srgbClr val="E8E8E8"/>
                </a:solidFill>
                <a:latin typeface="Roboto"/>
                <a:ea typeface="Roboto"/>
                <a:cs typeface="Roboto"/>
              </a:rPr>
              <a:t>CIDR ayarıyla izin verilen ağlar belirlenir. Varsayılan erişim yalnızca yereldir.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2025">
                <a:solidFill>
                  <a:srgbClr val="E8E8E8"/>
                </a:solidFill>
                <a:latin typeface="Roboto"/>
                <a:ea typeface="Roboto"/>
                <a:cs typeface="Roboto"/>
              </a:rPr>
              <a:t>Sorgular kaynak ve süre bilgileriyle kaydedilir; belirli gizli bilgi kalıpları maskelenir.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aşlık">
            <a:extLst xmlns:a="http://schemas.openxmlformats.org/drawingml/2006/main">
              <a:ext uri="{FF2B5EF4-FFF2-40B4-BE49-F238E27FC236}">
                <a16:creationId xmlns:a16="http://schemas.microsoft.com/office/drawing/2014/main" id="{25AA03D0-200F-455C-9F74-430A7F8C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>
                <a:solidFill>
                  <a:srgbClr val="FFFFFF"/>
                </a:solidFill>
                <a:latin typeface="Lora"/>
                <a:ea typeface="Lora"/>
                <a:cs typeface="Lora"/>
              </a:defRPr>
            </a:pPr>
            <a:r>
              <a:rPr sz="3450">
                <a:solidFill>
                  <a:srgbClr val="FFFFFF"/>
                </a:solidFill>
                <a:latin typeface="Lora"/>
                <a:ea typeface="Lora"/>
                <a:cs typeface="Lora"/>
              </a:rPr>
              <a:t>Sohbet geçmişi ve takip soruları</a:t>
            </a:r>
          </a:p>
        </p:txBody>
      </p:sp>
      <p:sp>
        <p:nvSpPr>
          <p:cNvPr id="2" name="Açıklama">
            <a:extLst xmlns:a="http://schemas.openxmlformats.org/drawingml/2006/main">
              <a:ext uri="{FF2B5EF4-FFF2-40B4-BE49-F238E27FC236}">
                <a16:creationId xmlns:a16="http://schemas.microsoft.com/office/drawing/2014/main" id="{3676A796-4CF2-4A82-B0C9-4FC2EA47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100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B9B9B9"/>
                </a:solidFill>
                <a:latin typeface="Roboto"/>
                <a:ea typeface="Roboto"/>
                <a:cs typeface="Roboto"/>
              </a:defRPr>
            </a:pPr>
            <a:r>
              <a:rPr sz="1875">
                <a:solidFill>
                  <a:srgbClr val="B9B9B9"/>
                </a:solidFill>
                <a:latin typeface="Roboto"/>
                <a:ea typeface="Roboto"/>
                <a:cs typeface="Roboto"/>
              </a:rPr>
              <a:t>Kısa soruların önceki konuşmayla ilişkilendirilmesi kullanıcı etkileşimini kolaylaştırır.</a:t>
            </a:r>
          </a:p>
        </p:txBody>
      </p:sp>
      <p:sp>
        <p:nvSpPr>
          <p:cNvPr id="3" name="Alt bilgi">
            <a:extLst xmlns:a="http://schemas.openxmlformats.org/drawingml/2006/main">
              <a:ext uri="{FF2B5EF4-FFF2-40B4-BE49-F238E27FC236}">
                <a16:creationId xmlns:a16="http://schemas.microsoft.com/office/drawing/2014/main" id="{EB9372B1-9460-4AF0-99A4-A14E2412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F8F8F"/>
                </a:solidFill>
                <a:latin typeface="Roboto"/>
                <a:ea typeface="Roboto"/>
                <a:cs typeface="Roboto"/>
              </a:defRPr>
            </a:pPr>
            <a:r>
              <a:rPr sz="1125">
                <a:solidFill>
                  <a:srgbClr val="8F8F8F"/>
                </a:solidFill>
                <a:latin typeface="Roboto"/>
                <a:ea typeface="Roboto"/>
                <a:cs typeface="Roboto"/>
              </a:rPr>
              <a:t>Finans RAG v2  •  Eralp Erboğa</a:t>
            </a:r>
          </a:p>
        </p:txBody>
      </p:sp>
      <p:sp>
        <p:nvSpPr>
          <p:cNvPr id="4" name="Sayfa">
            <a:extLst xmlns:a="http://schemas.openxmlformats.org/drawingml/2006/main">
              <a:ext uri="{FF2B5EF4-FFF2-40B4-BE49-F238E27FC236}">
                <a16:creationId xmlns:a16="http://schemas.microsoft.com/office/drawing/2014/main" id="{477A57F8-BFDD-4C59-B048-A58B9721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F8F8F"/>
                </a:solidFill>
                <a:latin typeface="Roboto"/>
                <a:ea typeface="Roboto"/>
                <a:cs typeface="Roboto"/>
              </a:defRPr>
            </a:pPr>
            <a:r>
              <a:rPr sz="1125">
                <a:solidFill>
                  <a:srgbClr val="8F8F8F"/>
                </a:solidFill>
                <a:latin typeface="Roboto"/>
                <a:ea typeface="Roboto"/>
                <a:cs typeface="Roboto"/>
              </a:rPr>
              <a:t>11</a:t>
            </a:r>
          </a:p>
        </p:txBody>
      </p:sp>
      <p:sp>
        <p:nvSpPr>
          <p:cNvPr id="5" name="Geçmiş başlık">
            <a:extLst xmlns:a="http://schemas.openxmlformats.org/drawingml/2006/main">
              <a:ext uri="{FF2B5EF4-FFF2-40B4-BE49-F238E27FC236}">
                <a16:creationId xmlns:a16="http://schemas.microsoft.com/office/drawing/2014/main" id="{4DFDCB50-DDA2-4CF5-AF15-8FAA0A61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519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6900"/>
                </a:solidFill>
                <a:latin typeface="Roboto"/>
                <a:ea typeface="Roboto"/>
                <a:cs typeface="Roboto"/>
              </a:defRPr>
            </a:pPr>
            <a:r>
              <a:rPr sz="2175">
                <a:solidFill>
                  <a:srgbClr val="FF6900"/>
                </a:solidFill>
                <a:latin typeface="Roboto"/>
                <a:ea typeface="Roboto"/>
                <a:cs typeface="Roboto"/>
              </a:rPr>
              <a:t>Geçmiş üzerinde işlemler</a:t>
            </a:r>
          </a:p>
        </p:txBody>
      </p:sp>
      <p:sp>
        <p:nvSpPr>
          <p:cNvPr id="6" name="Geçmiş metin">
            <a:extLst xmlns:a="http://schemas.openxmlformats.org/drawingml/2006/main">
              <a:ext uri="{FF2B5EF4-FFF2-40B4-BE49-F238E27FC236}">
                <a16:creationId xmlns:a16="http://schemas.microsoft.com/office/drawing/2014/main" id="{F2C6EF4D-6900-43E6-AD25-4C217BF6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71775"/>
            <a:ext cx="519112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2025">
                <a:solidFill>
                  <a:srgbClr val="E8E8E8"/>
                </a:solidFill>
                <a:latin typeface="Roboto"/>
                <a:ea typeface="Roboto"/>
                <a:cs typeface="Roboto"/>
              </a:rPr>
              <a:t>“İlk sorum neydi?” veya “Üçüncü sorumun son kelimesi nedir?” gibi istekler işlem planına dönüştürülür.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2025">
                <a:solidFill>
                  <a:srgbClr val="E8E8E8"/>
                </a:solidFill>
                <a:latin typeface="Roboto"/>
                <a:ea typeface="Roboto"/>
                <a:cs typeface="Roboto"/>
              </a:rPr>
              <a:t>Mesaj ve kelime seçimi, sıralama ve metin arama işlemleri Python ile gerçekleştirilir.</a:t>
            </a:r>
          </a:p>
        </p:txBody>
      </p:sp>
      <p:sp>
        <p:nvSpPr>
          <p:cNvPr id="7" name="Takip başlık">
            <a:extLst xmlns:a="http://schemas.openxmlformats.org/drawingml/2006/main">
              <a:ext uri="{FF2B5EF4-FFF2-40B4-BE49-F238E27FC236}">
                <a16:creationId xmlns:a16="http://schemas.microsoft.com/office/drawing/2014/main" id="{47ED3ACB-2801-4595-AA9D-C5406B3A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519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6900"/>
                </a:solidFill>
                <a:latin typeface="Roboto"/>
                <a:ea typeface="Roboto"/>
                <a:cs typeface="Roboto"/>
              </a:defRPr>
            </a:pPr>
            <a:r>
              <a:rPr sz="2175">
                <a:solidFill>
                  <a:srgbClr val="FF6900"/>
                </a:solidFill>
                <a:latin typeface="Roboto"/>
                <a:ea typeface="Roboto"/>
                <a:cs typeface="Roboto"/>
              </a:rPr>
              <a:t>Bağlamın kullanılması</a:t>
            </a:r>
          </a:p>
        </p:txBody>
      </p:sp>
      <p:sp>
        <p:nvSpPr>
          <p:cNvPr id="8" name="Takip metin">
            <a:extLst xmlns:a="http://schemas.openxmlformats.org/drawingml/2006/main">
              <a:ext uri="{FF2B5EF4-FFF2-40B4-BE49-F238E27FC236}">
                <a16:creationId xmlns:a16="http://schemas.microsoft.com/office/drawing/2014/main" id="{F2ABCEFB-F2A3-4470-8309-D6986879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71775"/>
            <a:ext cx="519112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2025">
                <a:solidFill>
                  <a:srgbClr val="E8E8E8"/>
                </a:solidFill>
                <a:latin typeface="Roboto"/>
                <a:ea typeface="Roboto"/>
                <a:cs typeface="Roboto"/>
              </a:rPr>
              <a:t>“Peki ticari alacaklar?” gibi kısa bir soru, önceki isteğin bağlamıyla ele alınır.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2025">
                <a:solidFill>
                  <a:srgbClr val="E8E8E8"/>
                </a:solidFill>
                <a:latin typeface="Roboto"/>
                <a:ea typeface="Roboto"/>
                <a:cs typeface="Roboto"/>
              </a:rPr>
              <a:t>Açık kısaltmalar oturumdaki konularla eşleştirilir. Birden fazla olası konu varsa kullanıcıdan açıklama istenir.</a:t>
            </a: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aşlık">
            <a:extLst xmlns:a="http://schemas.openxmlformats.org/drawingml/2006/main">
              <a:ext uri="{FF2B5EF4-FFF2-40B4-BE49-F238E27FC236}">
                <a16:creationId xmlns:a16="http://schemas.microsoft.com/office/drawing/2014/main" id="{C88B9583-6BC7-4391-8C2D-F4F2BD7C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>
                <a:solidFill>
                  <a:srgbClr val="FFFFFF"/>
                </a:solidFill>
                <a:latin typeface="Lora"/>
                <a:ea typeface="Lora"/>
                <a:cs typeface="Lora"/>
              </a:defRPr>
            </a:pPr>
            <a:r>
              <a:rPr sz="3450">
                <a:solidFill>
                  <a:srgbClr val="FFFFFF"/>
                </a:solidFill>
                <a:latin typeface="Lora"/>
                <a:ea typeface="Lora"/>
                <a:cs typeface="Lora"/>
              </a:rPr>
              <a:t>Yapılan kontroller ve kazanımlar</a:t>
            </a:r>
          </a:p>
        </p:txBody>
      </p:sp>
      <p:sp>
        <p:nvSpPr>
          <p:cNvPr id="2" name="Açıklama">
            <a:extLst xmlns:a="http://schemas.openxmlformats.org/drawingml/2006/main">
              <a:ext uri="{FF2B5EF4-FFF2-40B4-BE49-F238E27FC236}">
                <a16:creationId xmlns:a16="http://schemas.microsoft.com/office/drawing/2014/main" id="{DE76FB65-3E37-43E7-AAAC-8AA003E3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100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B9B9B9"/>
                </a:solidFill>
                <a:latin typeface="Roboto"/>
                <a:ea typeface="Roboto"/>
                <a:cs typeface="Roboto"/>
              </a:defRPr>
            </a:pPr>
            <a:r>
              <a:rPr sz="1875">
                <a:solidFill>
                  <a:srgbClr val="B9B9B9"/>
                </a:solidFill>
                <a:latin typeface="Roboto"/>
                <a:ea typeface="Roboto"/>
                <a:cs typeface="Roboto"/>
              </a:rPr>
              <a:t>Hesaplama ve erişim akışları ayrı senaryolarla değerlendirildi.</a:t>
            </a:r>
          </a:p>
        </p:txBody>
      </p:sp>
      <p:sp>
        <p:nvSpPr>
          <p:cNvPr id="3" name="Alt bilgi">
            <a:extLst xmlns:a="http://schemas.openxmlformats.org/drawingml/2006/main">
              <a:ext uri="{FF2B5EF4-FFF2-40B4-BE49-F238E27FC236}">
                <a16:creationId xmlns:a16="http://schemas.microsoft.com/office/drawing/2014/main" id="{BD34DDA8-BA60-40F6-AE2D-9D94E586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F8F8F"/>
                </a:solidFill>
                <a:latin typeface="Roboto"/>
                <a:ea typeface="Roboto"/>
                <a:cs typeface="Roboto"/>
              </a:defRPr>
            </a:pPr>
            <a:r>
              <a:rPr sz="1125">
                <a:solidFill>
                  <a:srgbClr val="8F8F8F"/>
                </a:solidFill>
                <a:latin typeface="Roboto"/>
                <a:ea typeface="Roboto"/>
                <a:cs typeface="Roboto"/>
              </a:rPr>
              <a:t>Finans RAG v2  •  Eralp Erboğa</a:t>
            </a:r>
          </a:p>
        </p:txBody>
      </p:sp>
      <p:sp>
        <p:nvSpPr>
          <p:cNvPr id="4" name="Sayfa">
            <a:extLst xmlns:a="http://schemas.openxmlformats.org/drawingml/2006/main">
              <a:ext uri="{FF2B5EF4-FFF2-40B4-BE49-F238E27FC236}">
                <a16:creationId xmlns:a16="http://schemas.microsoft.com/office/drawing/2014/main" id="{8FD389EC-8271-493D-B709-E4C9CB56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F8F8F"/>
                </a:solidFill>
                <a:latin typeface="Roboto"/>
                <a:ea typeface="Roboto"/>
                <a:cs typeface="Roboto"/>
              </a:defRPr>
            </a:pPr>
            <a:r>
              <a:rPr sz="1125">
                <a:solidFill>
                  <a:srgbClr val="8F8F8F"/>
                </a:solidFill>
                <a:latin typeface="Roboto"/>
                <a:ea typeface="Roboto"/>
                <a:cs typeface="Roboto"/>
              </a:rPr>
              <a:t>12</a:t>
            </a:r>
          </a:p>
        </p:txBody>
      </p:sp>
      <p:sp>
        <p:nvSpPr>
          <p:cNvPr id="5" name="101">
            <a:extLst xmlns:a="http://schemas.openxmlformats.org/drawingml/2006/main">
              <a:ext uri="{FF2B5EF4-FFF2-40B4-BE49-F238E27FC236}">
                <a16:creationId xmlns:a16="http://schemas.microsoft.com/office/drawing/2014/main" id="{311047FA-6B40-47FE-B2DC-DC632C57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38375"/>
            <a:ext cx="276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>
                <a:solidFill>
                  <a:srgbClr val="FF6900"/>
                </a:solidFill>
                <a:latin typeface="Roboto"/>
                <a:ea typeface="Roboto"/>
                <a:cs typeface="Roboto"/>
              </a:defRPr>
            </a:pPr>
            <a:r>
              <a:rPr sz="5700">
                <a:solidFill>
                  <a:srgbClr val="FF6900"/>
                </a:solidFill>
                <a:latin typeface="Roboto"/>
                <a:ea typeface="Roboto"/>
                <a:cs typeface="Roboto"/>
              </a:rPr>
              <a:t>101</a:t>
            </a:r>
          </a:p>
        </p:txBody>
      </p:sp>
      <p:sp>
        <p:nvSpPr>
          <p:cNvPr id="6" name="101 açıklama">
            <a:extLst xmlns:a="http://schemas.openxmlformats.org/drawingml/2006/main">
              <a:ext uri="{FF2B5EF4-FFF2-40B4-BE49-F238E27FC236}">
                <a16:creationId xmlns:a16="http://schemas.microsoft.com/office/drawing/2014/main" id="{BD4763FB-60E5-4B80-A94B-70EC02F4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76625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2175">
                <a:solidFill>
                  <a:srgbClr val="E8E8E8"/>
                </a:solidFill>
                <a:latin typeface="Roboto"/>
                <a:ea typeface="Roboto"/>
                <a:cs typeface="Roboto"/>
              </a:rPr>
              <a:t>17 Eylül sürümünde</a:t>
            </a:r>
          </a:p>
          <a:p xmlns:a="http://schemas.openxmlformats.org/drawingml/2006/main">
            <a:pPr>
              <a:defRPr sz="2175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2175">
                <a:solidFill>
                  <a:srgbClr val="E8E8E8"/>
                </a:solidFill>
                <a:latin typeface="Roboto"/>
                <a:ea typeface="Roboto"/>
                <a:cs typeface="Roboto"/>
              </a:rPr>
              <a:t>başarılı otomatik kontrol</a:t>
            </a:r>
          </a:p>
        </p:txBody>
      </p:sp>
      <p:sp>
        <p:nvSpPr>
          <p:cNvPr id="7" name="13">
            <a:extLst xmlns:a="http://schemas.openxmlformats.org/drawingml/2006/main">
              <a:ext uri="{FF2B5EF4-FFF2-40B4-BE49-F238E27FC236}">
                <a16:creationId xmlns:a16="http://schemas.microsoft.com/office/drawing/2014/main" id="{5D1BE8B2-8010-41E8-9020-91CC1F80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38375"/>
            <a:ext cx="276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>
                <a:solidFill>
                  <a:srgbClr val="FF6900"/>
                </a:solidFill>
                <a:latin typeface="Roboto"/>
                <a:ea typeface="Roboto"/>
                <a:cs typeface="Roboto"/>
              </a:defRPr>
            </a:pPr>
            <a:r>
              <a:rPr sz="5700">
                <a:solidFill>
                  <a:srgbClr val="FF6900"/>
                </a:solidFill>
                <a:latin typeface="Roboto"/>
                <a:ea typeface="Roboto"/>
                <a:cs typeface="Roboto"/>
              </a:rPr>
              <a:t>13</a:t>
            </a:r>
          </a:p>
        </p:txBody>
      </p:sp>
      <p:sp>
        <p:nvSpPr>
          <p:cNvPr id="8" name="13 açıklama">
            <a:extLst xmlns:a="http://schemas.openxmlformats.org/drawingml/2006/main">
              <a:ext uri="{FF2B5EF4-FFF2-40B4-BE49-F238E27FC236}">
                <a16:creationId xmlns:a16="http://schemas.microsoft.com/office/drawing/2014/main" id="{20A03A6E-458D-4BAC-A8CC-0C88E45E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76625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2175">
                <a:solidFill>
                  <a:srgbClr val="E8E8E8"/>
                </a:solidFill>
                <a:latin typeface="Roboto"/>
                <a:ea typeface="Roboto"/>
                <a:cs typeface="Roboto"/>
              </a:rPr>
              <a:t>18 Eylül’de kişisel hesap ve</a:t>
            </a:r>
          </a:p>
          <a:p xmlns:a="http://schemas.openxmlformats.org/drawingml/2006/main">
            <a:pPr>
              <a:defRPr sz="2175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2175">
                <a:solidFill>
                  <a:srgbClr val="E8E8E8"/>
                </a:solidFill>
                <a:latin typeface="Roboto"/>
                <a:ea typeface="Roboto"/>
                <a:cs typeface="Roboto"/>
              </a:rPr>
              <a:t>erişim akışına ait başarılı kontrol</a:t>
            </a:r>
          </a:p>
        </p:txBody>
      </p:sp>
      <p:sp>
        <p:nvSpPr>
          <p:cNvPr id="9" name="Kapsam">
            <a:extLst xmlns:a="http://schemas.openxmlformats.org/drawingml/2006/main">
              <a:ext uri="{FF2B5EF4-FFF2-40B4-BE49-F238E27FC236}">
                <a16:creationId xmlns:a16="http://schemas.microsoft.com/office/drawing/2014/main" id="{A16A0941-EE84-4E9A-831F-6561A510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72025"/>
            <a:ext cx="10858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1950">
                <a:solidFill>
                  <a:srgbClr val="E8E8E8"/>
                </a:solidFill>
                <a:latin typeface="Roboto"/>
                <a:ea typeface="Roboto"/>
                <a:cs typeface="Roboto"/>
              </a:rPr>
              <a:t>Kontroller; hesap seçimi, mali işlemler, geçmiş yönetimi, şifre değişimi ve kurtarma gibi farklı alanları kapsadı. Bulgulara göre brüt/net ayrımı ve bağlam yönetimi iyileştirildi.</a:t>
            </a:r>
          </a:p>
        </p:txBody>
      </p:sp>
      <p:sp>
        <p:nvSpPr>
          <p:cNvPr id="10" name="Test notu">
            <a:extLst xmlns:a="http://schemas.openxmlformats.org/drawingml/2006/main">
              <a:ext uri="{FF2B5EF4-FFF2-40B4-BE49-F238E27FC236}">
                <a16:creationId xmlns:a16="http://schemas.microsoft.com/office/drawing/2014/main" id="{40251082-F047-4CCA-A8EF-319F2657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9B9B9"/>
                </a:solidFill>
                <a:latin typeface="Roboto"/>
                <a:ea typeface="Roboto"/>
                <a:cs typeface="Roboto"/>
              </a:defRPr>
            </a:pPr>
            <a:r>
              <a:rPr sz="1500">
                <a:solidFill>
                  <a:srgbClr val="B9B9B9"/>
                </a:solidFill>
                <a:latin typeface="Roboto"/>
                <a:ea typeface="Roboto"/>
                <a:cs typeface="Roboto"/>
              </a:rPr>
              <a:t>Sayılar farklı sürümlere aittir; tek bir toplam değildir. Bazı karma takip sorularında iyileştirme çalışmaları sürecek.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aşlık">
            <a:extLst xmlns:a="http://schemas.openxmlformats.org/drawingml/2006/main">
              <a:ext uri="{FF2B5EF4-FFF2-40B4-BE49-F238E27FC236}">
                <a16:creationId xmlns:a16="http://schemas.microsoft.com/office/drawing/2014/main" id="{891A0B8F-D3F8-4DA2-9F7C-EA3428B4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>
                <a:solidFill>
                  <a:srgbClr val="FFFFFF"/>
                </a:solidFill>
                <a:latin typeface="Lora"/>
                <a:ea typeface="Lora"/>
                <a:cs typeface="Lora"/>
              </a:defRPr>
            </a:pPr>
            <a:r>
              <a:rPr sz="3450">
                <a:solidFill>
                  <a:srgbClr val="FFFFFF"/>
                </a:solidFill>
                <a:latin typeface="Lora"/>
                <a:ea typeface="Lora"/>
                <a:cs typeface="Lora"/>
              </a:rPr>
              <a:t>Tamamlanan proje ve teslim çıktıları</a:t>
            </a:r>
          </a:p>
        </p:txBody>
      </p:sp>
      <p:sp>
        <p:nvSpPr>
          <p:cNvPr id="2" name="Açıklama">
            <a:extLst xmlns:a="http://schemas.openxmlformats.org/drawingml/2006/main">
              <a:ext uri="{FF2B5EF4-FFF2-40B4-BE49-F238E27FC236}">
                <a16:creationId xmlns:a16="http://schemas.microsoft.com/office/drawing/2014/main" id="{BCB3881C-3ABB-4F95-82E3-8E1591AF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100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B9B9B9"/>
                </a:solidFill>
                <a:latin typeface="Roboto"/>
                <a:ea typeface="Roboto"/>
                <a:cs typeface="Roboto"/>
              </a:defRPr>
            </a:pPr>
            <a:r>
              <a:rPr sz="1875">
                <a:solidFill>
                  <a:srgbClr val="B9B9B9"/>
                </a:solidFill>
                <a:latin typeface="Roboto"/>
                <a:ea typeface="Roboto"/>
                <a:cs typeface="Roboto"/>
              </a:rPr>
              <a:t>Çalışan yerel uygulama, kullanım belgeleri ve sürüm kontrollü kaynak kodu.</a:t>
            </a:r>
          </a:p>
        </p:txBody>
      </p:sp>
      <p:sp>
        <p:nvSpPr>
          <p:cNvPr id="3" name="Alt bilgi">
            <a:extLst xmlns:a="http://schemas.openxmlformats.org/drawingml/2006/main">
              <a:ext uri="{FF2B5EF4-FFF2-40B4-BE49-F238E27FC236}">
                <a16:creationId xmlns:a16="http://schemas.microsoft.com/office/drawing/2014/main" id="{44D445DC-AB75-4A96-A8FB-4BFBCEDF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F8F8F"/>
                </a:solidFill>
                <a:latin typeface="Roboto"/>
                <a:ea typeface="Roboto"/>
                <a:cs typeface="Roboto"/>
              </a:defRPr>
            </a:pPr>
            <a:r>
              <a:rPr sz="1125">
                <a:solidFill>
                  <a:srgbClr val="8F8F8F"/>
                </a:solidFill>
                <a:latin typeface="Roboto"/>
                <a:ea typeface="Roboto"/>
                <a:cs typeface="Roboto"/>
              </a:rPr>
              <a:t>Finans RAG v2  •  Eralp Erboğa</a:t>
            </a:r>
          </a:p>
        </p:txBody>
      </p:sp>
      <p:sp>
        <p:nvSpPr>
          <p:cNvPr id="4" name="Sayfa">
            <a:extLst xmlns:a="http://schemas.openxmlformats.org/drawingml/2006/main">
              <a:ext uri="{FF2B5EF4-FFF2-40B4-BE49-F238E27FC236}">
                <a16:creationId xmlns:a16="http://schemas.microsoft.com/office/drawing/2014/main" id="{18AEBF7F-618E-4F98-9D4B-8BD871D6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F8F8F"/>
                </a:solidFill>
                <a:latin typeface="Roboto"/>
                <a:ea typeface="Roboto"/>
                <a:cs typeface="Roboto"/>
              </a:defRPr>
            </a:pPr>
            <a:r>
              <a:rPr sz="1125">
                <a:solidFill>
                  <a:srgbClr val="8F8F8F"/>
                </a:solidFill>
                <a:latin typeface="Roboto"/>
                <a:ea typeface="Roboto"/>
                <a:cs typeface="Roboto"/>
              </a:rPr>
              <a:t>13</a:t>
            </a:r>
          </a:p>
        </p:txBody>
      </p:sp>
      <p:sp>
        <p:nvSpPr>
          <p:cNvPr id="5" name="Uygulama başlık">
            <a:extLst xmlns:a="http://schemas.openxmlformats.org/drawingml/2006/main">
              <a:ext uri="{FF2B5EF4-FFF2-40B4-BE49-F238E27FC236}">
                <a16:creationId xmlns:a16="http://schemas.microsoft.com/office/drawing/2014/main" id="{5427B1CC-1157-4BC4-8733-568FB930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519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6900"/>
                </a:solidFill>
                <a:latin typeface="Roboto"/>
                <a:ea typeface="Roboto"/>
                <a:cs typeface="Roboto"/>
              </a:defRPr>
            </a:pPr>
            <a:r>
              <a:rPr sz="2175">
                <a:solidFill>
                  <a:srgbClr val="FF6900"/>
                </a:solidFill>
                <a:latin typeface="Roboto"/>
                <a:ea typeface="Roboto"/>
                <a:cs typeface="Roboto"/>
              </a:rPr>
              <a:t>Uygulama tarafı</a:t>
            </a:r>
          </a:p>
        </p:txBody>
      </p:sp>
      <p:sp>
        <p:nvSpPr>
          <p:cNvPr id="6" name="Uygulama metin">
            <a:extLst xmlns:a="http://schemas.openxmlformats.org/drawingml/2006/main">
              <a:ext uri="{FF2B5EF4-FFF2-40B4-BE49-F238E27FC236}">
                <a16:creationId xmlns:a16="http://schemas.microsoft.com/office/drawing/2014/main" id="{0555BD32-E5D0-4996-A67E-9E4A7BF0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71775"/>
            <a:ext cx="519112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2025">
                <a:solidFill>
                  <a:srgbClr val="E8E8E8"/>
                </a:solidFill>
                <a:latin typeface="Roboto"/>
                <a:ea typeface="Roboto"/>
                <a:cs typeface="Roboto"/>
              </a:rPr>
              <a:t>Mali veri içe aktarımı ve hesaplama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2025">
                <a:solidFill>
                  <a:srgbClr val="E8E8E8"/>
                </a:solidFill>
                <a:latin typeface="Roboto"/>
                <a:ea typeface="Roboto"/>
                <a:cs typeface="Roboto"/>
              </a:rPr>
              <a:t>Kaynaklı mevzuat araması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2025">
                <a:solidFill>
                  <a:srgbClr val="E8E8E8"/>
                </a:solidFill>
                <a:latin typeface="Roboto"/>
                <a:ea typeface="Roboto"/>
                <a:cs typeface="Roboto"/>
              </a:rPr>
              <a:t>Karma sorgular ve sohbet geçmişi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2025">
                <a:solidFill>
                  <a:srgbClr val="E8E8E8"/>
                </a:solidFill>
                <a:latin typeface="Roboto"/>
                <a:ea typeface="Roboto"/>
                <a:cs typeface="Roboto"/>
              </a:rPr>
              <a:t>Kişisel hesap ve şifre işlemleri</a:t>
            </a:r>
          </a:p>
        </p:txBody>
      </p:sp>
      <p:sp>
        <p:nvSpPr>
          <p:cNvPr id="7" name="Teslim başlık">
            <a:extLst xmlns:a="http://schemas.openxmlformats.org/drawingml/2006/main">
              <a:ext uri="{FF2B5EF4-FFF2-40B4-BE49-F238E27FC236}">
                <a16:creationId xmlns:a16="http://schemas.microsoft.com/office/drawing/2014/main" id="{F8CF6681-3282-463A-ABE3-83FD6BA5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519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6900"/>
                </a:solidFill>
                <a:latin typeface="Roboto"/>
                <a:ea typeface="Roboto"/>
                <a:cs typeface="Roboto"/>
              </a:defRPr>
            </a:pPr>
            <a:r>
              <a:rPr sz="2175">
                <a:solidFill>
                  <a:srgbClr val="FF6900"/>
                </a:solidFill>
                <a:latin typeface="Roboto"/>
                <a:ea typeface="Roboto"/>
                <a:cs typeface="Roboto"/>
              </a:rPr>
              <a:t>Teslim tarafı</a:t>
            </a:r>
          </a:p>
        </p:txBody>
      </p:sp>
      <p:sp>
        <p:nvSpPr>
          <p:cNvPr id="8" name="Teslim metin">
            <a:extLst xmlns:a="http://schemas.openxmlformats.org/drawingml/2006/main">
              <a:ext uri="{FF2B5EF4-FFF2-40B4-BE49-F238E27FC236}">
                <a16:creationId xmlns:a16="http://schemas.microsoft.com/office/drawing/2014/main" id="{77AF14FE-9F47-4CB9-A4E1-FB1D2428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71775"/>
            <a:ext cx="519112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2025">
                <a:solidFill>
                  <a:srgbClr val="E8E8E8"/>
                </a:solidFill>
                <a:latin typeface="Roboto"/>
                <a:ea typeface="Roboto"/>
                <a:cs typeface="Roboto"/>
              </a:rPr>
              <a:t>Kurulum ve kullanım belgeleri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2025">
                <a:solidFill>
                  <a:srgbClr val="E8E8E8"/>
                </a:solidFill>
                <a:latin typeface="Roboto"/>
                <a:ea typeface="Roboto"/>
                <a:cs typeface="Roboto"/>
              </a:rPr>
              <a:t>Teknik rapor ve demo senaryosu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2025">
                <a:solidFill>
                  <a:srgbClr val="E8E8E8"/>
                </a:solidFill>
                <a:latin typeface="Roboto"/>
                <a:ea typeface="Roboto"/>
                <a:cs typeface="Roboto"/>
              </a:rPr>
              <a:t>Ekran görüntülü PDF kılavuzu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2025">
                <a:solidFill>
                  <a:srgbClr val="E8E8E8"/>
                </a:solidFill>
                <a:latin typeface="Roboto"/>
                <a:ea typeface="Roboto"/>
                <a:cs typeface="Roboto"/>
              </a:rPr>
              <a:t>PowerPoint sunumu ve teslim ZIP’i</a:t>
            </a:r>
          </a:p>
        </p:txBody>
      </p:sp>
      <p:sp>
        <p:nvSpPr>
          <p:cNvPr id="9" name="GitHub">
            <a:extLst xmlns:a="http://schemas.openxmlformats.org/drawingml/2006/main">
              <a:ext uri="{FF2B5EF4-FFF2-40B4-BE49-F238E27FC236}">
                <a16:creationId xmlns:a16="http://schemas.microsoft.com/office/drawing/2014/main" id="{FD0F5E9F-B0BD-46B2-B645-33008DD4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15025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F6900"/>
                </a:solidFill>
                <a:latin typeface="Roboto"/>
                <a:ea typeface="Roboto"/>
                <a:cs typeface="Roboto"/>
              </a:defRPr>
            </a:pPr>
            <a:r>
              <a:rPr sz="1950">
                <a:solidFill>
                  <a:srgbClr val="FF6900"/>
                </a:solidFill>
                <a:latin typeface="Roboto"/>
                <a:ea typeface="Roboto"/>
                <a:cs typeface="Roboto"/>
              </a:rPr>
              <a:t>GitHub: github.com/EralpErboga/finans-rag-v2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aşlık">
            <a:extLst xmlns:a="http://schemas.openxmlformats.org/drawingml/2006/main">
              <a:ext uri="{FF2B5EF4-FFF2-40B4-BE49-F238E27FC236}">
                <a16:creationId xmlns:a16="http://schemas.microsoft.com/office/drawing/2014/main" id="{50D768DA-5FBF-4B07-B429-D24313B7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>
                <a:solidFill>
                  <a:srgbClr val="FFFFFF"/>
                </a:solidFill>
                <a:latin typeface="Lora"/>
                <a:ea typeface="Lora"/>
                <a:cs typeface="Lora"/>
              </a:defRPr>
            </a:pPr>
            <a:r>
              <a:rPr sz="3450">
                <a:solidFill>
                  <a:srgbClr val="FFFFFF"/>
                </a:solidFill>
                <a:latin typeface="Lora"/>
                <a:ea typeface="Lora"/>
                <a:cs typeface="Lora"/>
              </a:rPr>
              <a:t>Sonraki çalışmalar</a:t>
            </a:r>
          </a:p>
        </p:txBody>
      </p:sp>
      <p:sp>
        <p:nvSpPr>
          <p:cNvPr id="2" name="Açıklama">
            <a:extLst xmlns:a="http://schemas.openxmlformats.org/drawingml/2006/main">
              <a:ext uri="{FF2B5EF4-FFF2-40B4-BE49-F238E27FC236}">
                <a16:creationId xmlns:a16="http://schemas.microsoft.com/office/drawing/2014/main" id="{3EA0053E-FEDF-495C-83D6-0472496F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100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B9B9B9"/>
                </a:solidFill>
                <a:latin typeface="Roboto"/>
                <a:ea typeface="Roboto"/>
                <a:cs typeface="Roboto"/>
              </a:defRPr>
            </a:pPr>
            <a:r>
              <a:rPr sz="1875">
                <a:solidFill>
                  <a:srgbClr val="B9B9B9"/>
                </a:solidFill>
                <a:latin typeface="Roboto"/>
                <a:ea typeface="Roboto"/>
                <a:cs typeface="Roboto"/>
              </a:rPr>
              <a:t>Mevcut özellikleri koruyarak kalan geliştirmeleri aşamalı olarak tamamlamayı planlıyorum.</a:t>
            </a:r>
          </a:p>
        </p:txBody>
      </p:sp>
      <p:sp>
        <p:nvSpPr>
          <p:cNvPr id="3" name="Alt bilgi">
            <a:extLst xmlns:a="http://schemas.openxmlformats.org/drawingml/2006/main">
              <a:ext uri="{FF2B5EF4-FFF2-40B4-BE49-F238E27FC236}">
                <a16:creationId xmlns:a16="http://schemas.microsoft.com/office/drawing/2014/main" id="{098B256E-3E59-4D44-A425-1D175939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F8F8F"/>
                </a:solidFill>
                <a:latin typeface="Roboto"/>
                <a:ea typeface="Roboto"/>
                <a:cs typeface="Roboto"/>
              </a:defRPr>
            </a:pPr>
            <a:r>
              <a:rPr sz="1125">
                <a:solidFill>
                  <a:srgbClr val="8F8F8F"/>
                </a:solidFill>
                <a:latin typeface="Roboto"/>
                <a:ea typeface="Roboto"/>
                <a:cs typeface="Roboto"/>
              </a:rPr>
              <a:t>Finans RAG v2  •  Eralp Erboğa</a:t>
            </a:r>
          </a:p>
        </p:txBody>
      </p:sp>
      <p:sp>
        <p:nvSpPr>
          <p:cNvPr id="4" name="Sayfa">
            <a:extLst xmlns:a="http://schemas.openxmlformats.org/drawingml/2006/main">
              <a:ext uri="{FF2B5EF4-FFF2-40B4-BE49-F238E27FC236}">
                <a16:creationId xmlns:a16="http://schemas.microsoft.com/office/drawing/2014/main" id="{F9A8E6B3-80D1-4B30-B1A8-A529AF16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F8F8F"/>
                </a:solidFill>
                <a:latin typeface="Roboto"/>
                <a:ea typeface="Roboto"/>
                <a:cs typeface="Roboto"/>
              </a:defRPr>
            </a:pPr>
            <a:r>
              <a:rPr sz="1125">
                <a:solidFill>
                  <a:srgbClr val="8F8F8F"/>
                </a:solidFill>
                <a:latin typeface="Roboto"/>
                <a:ea typeface="Roboto"/>
                <a:cs typeface="Roboto"/>
              </a:rPr>
              <a:t>14</a:t>
            </a:r>
          </a:p>
        </p:txBody>
      </p:sp>
      <p:sp>
        <p:nvSpPr>
          <p:cNvPr id="5" name="Plan başlık">
            <a:extLst xmlns:a="http://schemas.openxmlformats.org/drawingml/2006/main">
              <a:ext uri="{FF2B5EF4-FFF2-40B4-BE49-F238E27FC236}">
                <a16:creationId xmlns:a16="http://schemas.microsoft.com/office/drawing/2014/main" id="{9020F0AA-5B83-496B-9389-5B7BF0F4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FF6900"/>
                </a:solidFill>
                <a:latin typeface="Roboto"/>
                <a:ea typeface="Roboto"/>
                <a:cs typeface="Roboto"/>
              </a:defRPr>
            </a:pPr>
            <a:r>
              <a:rPr sz="2400">
                <a:solidFill>
                  <a:srgbClr val="FF6900"/>
                </a:solidFill>
                <a:latin typeface="Roboto"/>
                <a:ea typeface="Roboto"/>
                <a:cs typeface="Roboto"/>
              </a:rPr>
              <a:t>Öncelikli geliştirmeler</a:t>
            </a:r>
          </a:p>
        </p:txBody>
      </p:sp>
      <p:sp>
        <p:nvSpPr>
          <p:cNvPr id="6" name="Plan metni">
            <a:extLst xmlns:a="http://schemas.openxmlformats.org/drawingml/2006/main">
              <a:ext uri="{FF2B5EF4-FFF2-40B4-BE49-F238E27FC236}">
                <a16:creationId xmlns:a16="http://schemas.microsoft.com/office/drawing/2014/main" id="{52D841E6-1083-4EC8-ADDF-655AE5DB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62275"/>
            <a:ext cx="1095375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2100">
                <a:solidFill>
                  <a:srgbClr val="E8E8E8"/>
                </a:solidFill>
                <a:latin typeface="Roboto"/>
                <a:ea typeface="Roboto"/>
                <a:cs typeface="Roboto"/>
              </a:rPr>
              <a:t>Karma takip sorularında bağlam ve kaynak seçimini iyileştirmek.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2100">
                <a:solidFill>
                  <a:srgbClr val="E8E8E8"/>
                </a:solidFill>
                <a:latin typeface="Roboto"/>
                <a:ea typeface="Roboto"/>
                <a:cs typeface="Roboto"/>
              </a:rPr>
              <a:t>CSV desteğini ve arayüzden veri yenilemeyi eklemek.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2100">
                <a:solidFill>
                  <a:srgbClr val="E8E8E8"/>
                </a:solidFill>
                <a:latin typeface="Roboto"/>
                <a:ea typeface="Roboto"/>
                <a:cs typeface="Roboto"/>
              </a:rPr>
              <a:t>Kurum ağı, HTTPS ve rol bazlı erişim çalışmalarını tamamlamak.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E8E8E8"/>
                </a:solidFill>
                <a:latin typeface="Roboto"/>
                <a:ea typeface="Roboto"/>
                <a:cs typeface="Roboto"/>
              </a:defRPr>
            </a:pPr>
            <a:r>
              <a:rPr sz="2100">
                <a:solidFill>
                  <a:srgbClr val="E8E8E8"/>
                </a:solidFill>
                <a:latin typeface="Roboto"/>
                <a:ea typeface="Roboto"/>
                <a:cs typeface="Roboto"/>
              </a:rPr>
              <a:t>Ek veri ihtiyaçlarını ve föydeki teknoloji koşullarını danışmanla netleştirmek.</a:t>
            </a:r>
          </a:p>
        </p:txBody>
      </p:sp>
      <p:sp>
        <p:nvSpPr>
          <p:cNvPr id="7" name="Kapanış">
            <a:extLst xmlns:a="http://schemas.openxmlformats.org/drawingml/2006/main">
              <a:ext uri="{FF2B5EF4-FFF2-40B4-BE49-F238E27FC236}">
                <a16:creationId xmlns:a16="http://schemas.microsoft.com/office/drawing/2014/main" id="{5A7127F4-4384-4D49-9F76-B245115E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95975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B9B9B9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B9B9B9"/>
                </a:solidFill>
                <a:latin typeface="Roboto"/>
                <a:ea typeface="Roboto"/>
                <a:cs typeface="Roboto"/>
              </a:rPr>
              <a:t>Tamamlanan yerel uygulama ve belgeler, bu geliştirmeler için çalışma temelini oluşturuyor.</a:t>
            </a: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theme/theme1.xml><?xml version="1.0" encoding="utf-8"?>
<a:theme xmlns:a="http://schemas.openxmlformats.org/drawingml/2006/main" name="Finans RAG Theme">
  <a:themeElements>
    <a:clrScheme name="Finans RAG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Finans RAG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/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/>
  <lastModifiedBy/>
  <dc:title>Presentation</dc:title>
  <dcterms:created xsi:type="dcterms:W3CDTF">2026-09-21T13:51:48.8970000Z</dcterms:created>
  <dcterms:modified xsi:type="dcterms:W3CDTF">2026-09-21T13:51:48.8970000Z</dcterms:modified>
</coreProperties>
</file>