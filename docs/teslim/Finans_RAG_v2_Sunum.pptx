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dat" ContentType="application/x-fontdata"/>
  <ns0:Default Extension="png" ContentType="image/png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notesMasters/notesMaster1.xml" ContentType="application/vnd.openxmlformats-officedocument.presentationml.notesMaster+xml"/>
  <ns0:Override PartName="/ppt/notesMasters/theme/theme3.xml" ContentType="application/vnd.openxmlformats-officedocument.them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10db39e9f643b7" /><Relationship Type="http://schemas.openxmlformats.org/officeDocument/2006/relationships/extended-properties" Target="/docProps/app.xml" Id="R3383f48f96324ec8" /><Relationship Type="http://schemas.openxmlformats.org/officeDocument/2006/relationships/officeDocument" Target="/ppt/presentation.xml" Id="R624e7982477a4b40" /></Relationships>
</file>

<file path=ppt/presentation.xml><?xml version="1.0" encoding="utf-8"?>
<ns0:presentation xmlns:ns0="http://schemas.openxmlformats.org/presentationml/2006/main" xmlns:ns1="http://schemas.openxmlformats.org/officeDocument/2006/relationships" embedTrueTypeFonts="1" saveSubsetFonts="0">
  <ns0:sldMasterIdLst>
    <ns0:sldMasterId id="2147483648" ns1:id="R4b021f1e41d147be"/>
  </ns0:sldMasterIdLst>
  <ns0:notesMasterIdLst>
    <ns0:notesMasterId ns1:id="Rca018be5edd240e0"/>
  </ns0:notesMasterIdLst>
  <ns0:sldIdLst>
    <ns0:sldId id="256" ns1:id="Ra695b4ebabbf4528"/>
    <ns0:sldId id="257" ns1:id="Rb9467760dad64b65"/>
    <ns0:sldId id="258" ns1:id="Ra55198018d174a9e"/>
    <ns0:sldId id="259" ns1:id="Rc3d5f0f1f86f49ff"/>
    <ns0:sldId id="260" ns1:id="R399b22240c7f4ca7"/>
    <ns0:sldId id="261" ns1:id="R225c236c1fd94b9c"/>
    <ns0:sldId id="262" ns1:id="Rf561d8969ca54a6c"/>
    <ns0:sldId id="263" ns1:id="R1fa092729cdb40ec"/>
    <ns0:sldId id="264" ns1:id="R6286285566e241c3"/>
    <ns0:sldId id="265" ns1:id="Rf1b554c4a2fe4999"/>
  </ns0:sldIdLst>
  <ns0:sldSz cx="12192000" cy="6858000"/>
  <ns0:notesSz cx="6858000" cy="9144000"/>
  <ns0:embeddedFontLst>
    <ns0:embeddedFont>
      <ns0:font typeface="Lora"/>
      <ns0:regular ns1:id="R3bef1772e8b84821"/>
      <ns0:bold ns1:id="Rd0e146ef5c4a46af"/>
      <ns0:italic ns1:id="Rf76971fb5d8d4f05"/>
      <ns0:boldItalic ns1:id="Rc696f62a032f43f8"/>
    </ns0:embeddedFont>
    <ns0:embeddedFont>
      <ns0:font typeface="Roboto"/>
      <ns0:regular ns1:id="R66c255da04094e4b"/>
      <ns0:bold ns1:id="R78b35b5bbb78413c"/>
      <ns0:italic ns1:id="Rb7cd6e98aeea4d5c"/>
      <ns0:boldItalic ns1:id="R48e9a8fc703e431a"/>
    </ns0:embeddedFont>
  </ns0:embeddedFontLst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a0d386c1a07b43d4" /><ns0:Relationship Type="http://schemas.openxmlformats.org/officeDocument/2006/relationships/slideMaster" Target="/ppt/slideMasters/slideMaster1.xml" Id="R4b021f1e41d147be" /><ns0:Relationship Type="http://schemas.openxmlformats.org/officeDocument/2006/relationships/notesMaster" Target="/ppt/notesMasters/notesMaster1.xml" Id="Rca018be5edd240e0" /><ns0:Relationship Type="http://schemas.openxmlformats.org/officeDocument/2006/relationships/presProps" Target="/ppt/presProps.xml" Id="R573a5bbbd08f49be" /><ns0:Relationship Type="http://schemas.openxmlformats.org/officeDocument/2006/relationships/viewProps" Target="/ppt/viewProps.xml" Id="Rb2057090f1344b12" /><ns0:Relationship Type="http://schemas.openxmlformats.org/officeDocument/2006/relationships/tableStyles" Target="/ppt/tableStyles.xml" Id="R50e4056933564061" /><ns0:Relationship Type="http://schemas.openxmlformats.org/officeDocument/2006/relationships/font" Target="/ppt/fonts/font.dat" Id="R3bef1772e8b84821" /><ns0:Relationship Type="http://schemas.openxmlformats.org/officeDocument/2006/relationships/font" Target="/ppt/fonts/font2.dat" Id="Rd0e146ef5c4a46af" /><ns0:Relationship Type="http://schemas.openxmlformats.org/officeDocument/2006/relationships/font" Target="/ppt/fonts/font3.dat" Id="Rf76971fb5d8d4f05" /><ns0:Relationship Type="http://schemas.openxmlformats.org/officeDocument/2006/relationships/font" Target="/ppt/fonts/font4.dat" Id="Rc696f62a032f43f8" /><ns0:Relationship Type="http://schemas.openxmlformats.org/officeDocument/2006/relationships/font" Target="/ppt/fonts/font9.dat" Id="R66c255da04094e4b" /><ns0:Relationship Type="http://schemas.openxmlformats.org/officeDocument/2006/relationships/font" Target="/ppt/fonts/font10.dat" Id="R78b35b5bbb78413c" /><ns0:Relationship Type="http://schemas.openxmlformats.org/officeDocument/2006/relationships/font" Target="/ppt/fonts/font11.dat" Id="Rb7cd6e98aeea4d5c" /><ns0:Relationship Type="http://schemas.openxmlformats.org/officeDocument/2006/relationships/font" Target="/ppt/fonts/font12.dat" Id="R48e9a8fc703e431a" /><ns0:Relationship Type="http://schemas.openxmlformats.org/officeDocument/2006/relationships/slide" Target="/ppt/slides/slide1.xml" Id="Ra695b4ebabbf4528" /><ns0:Relationship Type="http://schemas.openxmlformats.org/officeDocument/2006/relationships/slide" Target="/ppt/slides/slide2.xml" Id="Rb9467760dad64b65" /><ns0:Relationship Type="http://schemas.openxmlformats.org/officeDocument/2006/relationships/slide" Target="/ppt/slides/slide3.xml" Id="Ra55198018d174a9e" /><ns0:Relationship Type="http://schemas.openxmlformats.org/officeDocument/2006/relationships/slide" Target="/ppt/slides/slide4.xml" Id="Rc3d5f0f1f86f49ff" /><ns0:Relationship Type="http://schemas.openxmlformats.org/officeDocument/2006/relationships/slide" Target="/ppt/slides/slide5.xml" Id="R399b22240c7f4ca7" /><ns0:Relationship Type="http://schemas.openxmlformats.org/officeDocument/2006/relationships/slide" Target="/ppt/slides/slide6.xml" Id="R225c236c1fd94b9c" /><ns0:Relationship Type="http://schemas.openxmlformats.org/officeDocument/2006/relationships/slide" Target="/ppt/slides/slide7.xml" Id="Rf561d8969ca54a6c" /><ns0:Relationship Type="http://schemas.openxmlformats.org/officeDocument/2006/relationships/slide" Target="/ppt/slides/slide8.xml" Id="R1fa092729cdb40ec" /><ns0:Relationship Type="http://schemas.openxmlformats.org/officeDocument/2006/relationships/slide" Target="/ppt/slides/slide9.xml" Id="R6286285566e241c3" /><ns0:Relationship Type="http://schemas.openxmlformats.org/officeDocument/2006/relationships/slide" Target="/ppt/slides/slide10.xml" Id="Rf1b554c4a2fe4999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94cfe2606b4a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inans RAG Theme">
  <a:themeElements>
    <a:clrScheme name="Finans RAG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Finans RAG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cdc8923ff74a01" /><Relationship Type="http://schemas.openxmlformats.org/officeDocument/2006/relationships/notesMaster" Target="/ppt/notesMasters/notesMaster1.xml" Id="R64245ba7370f4e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d086cfac11499a" /><Relationship Type="http://schemas.openxmlformats.org/officeDocument/2006/relationships/notesMaster" Target="/ppt/notesMasters/notesMaster1.xml" Id="R490176a786c249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0095b084f04fa5" /><Relationship Type="http://schemas.openxmlformats.org/officeDocument/2006/relationships/notesMaster" Target="/ppt/notesMasters/notesMaster1.xml" Id="R84dc62f11ceb4d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688c59247e423e" /><Relationship Type="http://schemas.openxmlformats.org/officeDocument/2006/relationships/notesMaster" Target="/ppt/notesMasters/notesMaster1.xml" Id="Ra559ed72288541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9d4f64cfe44d06" /><Relationship Type="http://schemas.openxmlformats.org/officeDocument/2006/relationships/notesMaster" Target="/ppt/notesMasters/notesMaster1.xml" Id="R2684c721762e42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cca4fc095d4180" /><Relationship Type="http://schemas.openxmlformats.org/officeDocument/2006/relationships/notesMaster" Target="/ppt/notesMasters/notesMaster1.xml" Id="Reb9e0bade16148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e1e76f3aac4606" /><Relationship Type="http://schemas.openxmlformats.org/officeDocument/2006/relationships/notesMaster" Target="/ppt/notesMasters/notesMaster1.xml" Id="Rf07063c4264c47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80eb5825e44c3c" /><Relationship Type="http://schemas.openxmlformats.org/officeDocument/2006/relationships/notesMaster" Target="/ppt/notesMasters/notesMaster1.xml" Id="R23a6acad1e8c4c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b937a4c32b4ce0" /><Relationship Type="http://schemas.openxmlformats.org/officeDocument/2006/relationships/notesMaster" Target="/ppt/notesMasters/notesMaster1.xml" Id="Rd3c9b93aa4b949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0b1b7e57054a03" /><Relationship Type="http://schemas.openxmlformats.org/officeDocument/2006/relationships/notesMaster" Target="/ppt/notesMasters/notesMaster1.xml" Id="R0d73a39d54cf46b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  <ns1:endParaRPr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0089607ed4a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95ccc6f4343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54505ca3f44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55263cb2b49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3b844b94d4a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8211f86984eb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94d9cf2c246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477ff1d49458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9102d284004147" /><Relationship Type="http://schemas.openxmlformats.org/officeDocument/2006/relationships/slideLayout" Target="/ppt/slideLayouts/slideLayout1.xml" Id="R8bfa6b1168ea4448" /><Relationship Type="http://schemas.openxmlformats.org/officeDocument/2006/relationships/slideLayout" Target="/ppt/slideLayouts/slideLayout2.xml" Id="R254570f8004f4d39" /><Relationship Type="http://schemas.openxmlformats.org/officeDocument/2006/relationships/slideLayout" Target="/ppt/slideLayouts/slideLayout3.xml" Id="Re6e79edb02954155" /><Relationship Type="http://schemas.openxmlformats.org/officeDocument/2006/relationships/slideLayout" Target="/ppt/slideLayouts/slideLayout4.xml" Id="Rd0ecd5d103f14cce" /><Relationship Type="http://schemas.openxmlformats.org/officeDocument/2006/relationships/slideLayout" Target="/ppt/slideLayouts/slideLayout5.xml" Id="Re81e8ed9f2114dff" /><Relationship Type="http://schemas.openxmlformats.org/officeDocument/2006/relationships/slideLayout" Target="/ppt/slideLayouts/slideLayout6.xml" Id="R28c71cd4330346eb" /><Relationship Type="http://schemas.openxmlformats.org/officeDocument/2006/relationships/slideLayout" Target="/ppt/slideLayouts/slideLayout7.xml" Id="Re35bb29924fe40a9" /><Relationship Type="http://schemas.openxmlformats.org/officeDocument/2006/relationships/slideLayout" Target="/ppt/slideLayouts/slideLayout8.xml" Id="R4f665bf6ed1541a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fa6b1168ea4448"/>
    <p:sldLayoutId xmlns:r="http://schemas.openxmlformats.org/officeDocument/2006/relationships" id="2147483650" r:id="R254570f8004f4d39"/>
    <p:sldLayoutId xmlns:r="http://schemas.openxmlformats.org/officeDocument/2006/relationships" id="2147483651" r:id="Re6e79edb02954155"/>
    <p:sldLayoutId xmlns:r="http://schemas.openxmlformats.org/officeDocument/2006/relationships" id="2147483652" r:id="Rd0ecd5d103f14cce"/>
    <p:sldLayoutId xmlns:r="http://schemas.openxmlformats.org/officeDocument/2006/relationships" id="2147483653" r:id="Re81e8ed9f2114dff"/>
    <p:sldLayoutId xmlns:r="http://schemas.openxmlformats.org/officeDocument/2006/relationships" id="2147483654" r:id="R28c71cd4330346eb"/>
    <p:sldLayoutId xmlns:r="http://schemas.openxmlformats.org/officeDocument/2006/relationships" id="2147483655" r:id="Re35bb29924fe40a9"/>
    <p:sldLayoutId xmlns:r="http://schemas.openxmlformats.org/officeDocument/2006/relationships" id="2147483656" r:id="R4f665bf6ed1541a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Finans RAG Theme">
  <a:themeElements>
    <a:clrScheme name="Finans RAG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Finans RAG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f75fe5c9f46b6" /><Relationship Type="http://schemas.openxmlformats.org/officeDocument/2006/relationships/notesSlide" Target="/ppt/notesSlides/notesSlide1.xml" Id="R4a83f2cae2d946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4ff572eca4243" /><Relationship Type="http://schemas.openxmlformats.org/officeDocument/2006/relationships/notesSlide" Target="/ppt/notesSlides/notesSlide2.xml" Id="R5676ac7dab4d4f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d8df0a3884e34" /><Relationship Type="http://schemas.openxmlformats.org/officeDocument/2006/relationships/notesSlide" Target="/ppt/notesSlides/notesSlide3.xml" Id="R2d5982a8432442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99fdd36184377" /><Relationship Type="http://schemas.openxmlformats.org/officeDocument/2006/relationships/image" Target="/ppt/media/image.png" Id="Rd46115209f954f9b" /><Relationship Type="http://schemas.openxmlformats.org/officeDocument/2006/relationships/notesSlide" Target="/ppt/notesSlides/notesSlide4.xml" Id="Rcbdb4b5046254d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6c98c6baf4908" /><Relationship Type="http://schemas.openxmlformats.org/officeDocument/2006/relationships/image" Target="/ppt/media/image2.png" Id="Rb9151efd049941ed" /><Relationship Type="http://schemas.openxmlformats.org/officeDocument/2006/relationships/notesSlide" Target="/ppt/notesSlides/notesSlide5.xml" Id="R1f8386b562744b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0fa01d4cb40ee" /><Relationship Type="http://schemas.openxmlformats.org/officeDocument/2006/relationships/image" Target="/ppt/media/image3.png" Id="R5953fae585684474" /><Relationship Type="http://schemas.openxmlformats.org/officeDocument/2006/relationships/notesSlide" Target="/ppt/notesSlides/notesSlide6.xml" Id="Rb238a198148d49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49db941b244b56" /><Relationship Type="http://schemas.openxmlformats.org/officeDocument/2006/relationships/notesSlide" Target="/ppt/notesSlides/notesSlide7.xml" Id="R52816b3735274b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402c5167848bb" /><Relationship Type="http://schemas.openxmlformats.org/officeDocument/2006/relationships/notesSlide" Target="/ppt/notesSlides/notesSlide8.xml" Id="R52b6ea5976e546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a61861d064883" /><Relationship Type="http://schemas.openxmlformats.org/officeDocument/2006/relationships/notesSlide" Target="/ppt/notesSlides/notesSlide9.xml" Id="Rc8efa69af71e4b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5873f83c84658" /><Relationship Type="http://schemas.openxmlformats.org/officeDocument/2006/relationships/notesSlide" Target="/ppt/notesSlides/notesSlide10.xml" Id="Rc7187344817c46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Finans RAG v2</a:t>
            </a:r>
          </a:p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Yerel veri asistanı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4B4B4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B4B4B4"/>
                </a:solidFill>
                <a:latin typeface="Roboto"/>
                <a:ea typeface="Roboto"/>
                <a:cs typeface="Roboto"/>
              </a:rPr>
              <a:t>Eralp Erboğa</a:t>
            </a:r>
          </a:p>
          <a:p xmlns:a="http://schemas.openxmlformats.org/drawingml/2006/main">
            <a:pPr algn="ctr">
              <a:buNone/>
              <a:defRPr sz="1800">
                <a:solidFill>
                  <a:srgbClr val="B4B4B4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B4B4B4"/>
                </a:solidFill>
                <a:latin typeface="Roboto"/>
                <a:ea typeface="Roboto"/>
                <a:cs typeface="Roboto"/>
              </a:rPr>
              <a:t>Bilgisayar Mühendisliği staj projesi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18 Eylül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Finans RAG v2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000">
                <a:solidFill>
                  <a:srgbClr val="FFFFFF"/>
                </a:solidFill>
                <a:latin typeface="Lora"/>
                <a:ea typeface="Lora"/>
                <a:cs typeface="Lora"/>
              </a:rPr>
              <a:t>Mali hesaplama ve</a:t>
            </a:r>
          </a:p>
          <a:p xmlns:a="http://schemas.openxmlformats.org/drawingml/2006/main">
            <a:pPr algn="ctr">
              <a:buNone/>
              <a:defRPr sz="300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000">
                <a:solidFill>
                  <a:srgbClr val="FFFFFF"/>
                </a:solidFill>
                <a:latin typeface="Lora"/>
                <a:ea typeface="Lora"/>
                <a:cs typeface="Lora"/>
              </a:rPr>
              <a:t>kaynaklı mevzuat yanıtı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Dil modeli soruyu yorumlar. Python mali işlemleri hesaplar.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Qdrant, soruyla ilgili mevzuat metinlerini getirir.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/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Kurgusal tablolar ve örnek EPDK metinleriyle geliştirilen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yerel karar destek prototipi.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B4B4B4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B4B4B4"/>
                </a:solidFill>
                <a:latin typeface="Roboto"/>
                <a:ea typeface="Roboto"/>
                <a:cs typeface="Roboto"/>
              </a:rPr>
              <a:t>Projenin amacı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Finans RAG v2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3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000">
                <a:solidFill>
                  <a:srgbClr val="FFFFFF"/>
                </a:solidFill>
                <a:latin typeface="Lora"/>
                <a:ea typeface="Lora"/>
                <a:cs typeface="Lora"/>
              </a:rPr>
              <a:t>Yerel mimari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Mali veri</a:t>
            </a:r>
            <a:endParaRPr sz="1800">
              <a:solidFill>
                <a:srgbClr val="FF4709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/>
            </a:r>
            <a:endParaRPr sz="1800"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Excel içe aktarımı</a:t>
            </a:r>
            <a:endParaRPr sz="1800"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SQLite hesap kataloğu</a:t>
            </a:r>
            <a:endParaRPr sz="1800"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Python ile tutar ve oran</a:t>
            </a:r>
            <a:endParaRPr sz="1800"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Etiket ve birim kontrolü</a:t>
            </a:r>
            <a:endParaRPr sz="1800"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Sohbet ve erişim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/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Oturuma özel geçmiş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Kişisel kullanıcı hesabı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Kurtarma kodu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Yerel sorgu günlüğü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94031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Mevzuat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/>
            </a:r>
          </a:p>
          <a:p xmlns:a="http://schemas.openxmlformats.org/drawingml/2006/main">
            <a:pPr marL="0" indent="0">
              <a:buNone/>
            </a:pPr>
            <a:r>
              <a:t>MADDE bazlı parçalar</a:t>
            </a:r>
            <a:endParaRPr/>
          </a:p>
          <a:p xmlns:a="http://schemas.openxmlformats.org/drawingml/2006/main">
            <a:pPr marL="0" indent="0">
              <a:buNone/>
            </a:pPr>
            <a:r>
              <a:t>BGE-M3 ve Qdrant</a:t>
            </a:r>
            <a:endParaRPr/>
          </a:p>
          <a:p xmlns:a="http://schemas.openxmlformats.org/drawingml/2006/main">
            <a:pPr marL="0" indent="0">
              <a:buNone/>
            </a:pPr>
            <a:r>
              <a:t>Leksikal yeniden sıralama</a:t>
            </a:r>
            <a:endParaRPr/>
          </a:p>
          <a:p xmlns:a="http://schemas.openxmlformats.org/drawingml/2006/main">
            <a:pPr marL="0" indent="0">
              <a:buNone/>
            </a:pPr>
            <a:r>
              <a:t>Kaynak pasajları</a:t>
            </a:r>
            <a:endParaRPr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B4B4B4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B4B4B4"/>
                </a:solidFill>
                <a:latin typeface="Roboto"/>
                <a:ea typeface="Roboto"/>
                <a:cs typeface="Roboto"/>
              </a:rPr>
              <a:t>Streamlit arayüzü ve özel Python orkestrasyonu.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B4B4B4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B4B4B4"/>
                </a:solidFill>
                <a:latin typeface="Roboto"/>
                <a:ea typeface="Roboto"/>
                <a:cs typeface="Roboto"/>
              </a:rPr>
              <a:t>Qwen2.5 7B ve BGE-M3 modelleri Ollama üzerinden</a:t>
            </a:r>
            <a:endParaRPr sz="1800">
              <a:solidFill>
                <a:schemeClr val="bg1">
                  <a:lumMod val="65000"/>
                  <a:lumOff val="35000"/>
                </a:schemeClr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B4B4B4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B4B4B4"/>
                </a:solidFill>
                <a:latin typeface="Roboto"/>
                <a:ea typeface="Roboto"/>
                <a:cs typeface="Roboto"/>
              </a:rPr>
              <a:t>bu bilgisayarda çalışır.</a:t>
            </a:r>
            <a:endParaRPr sz="180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Finans RAG v2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4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000">
                <a:solidFill>
                  <a:srgbClr val="FFFFFF"/>
                </a:solidFill>
                <a:latin typeface="Lora"/>
                <a:ea typeface="Lora"/>
                <a:cs typeface="Lora"/>
              </a:rPr>
              <a:t>Kullanıcı arayüzü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Soru, veri ve kaynak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aynı çalışma alanında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Sohbet kutusundan mali veya mevzuat sorusu sorulur.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Yan panel mizanı ve bilanço denkliğini gösterir.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Yanıtlar kaynak adı ve bölüm bilgisiyle sunulur.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Ekrandaki hesap yalnızca demo içindir.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115209f954f9b"/>
          <a:stretch xmlns:a="http://schemas.openxmlformats.org/drawingml/2006/main"/>
        </p:blipFill>
        <p:spPr>
          <a:xfrm xmlns:a="http://schemas.openxmlformats.org/drawingml/2006/main">
            <a:off x="6269069" y="1081574"/>
            <a:ext cx="5539740" cy="42317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Finans RAG v2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5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Kayıt anahtarı ile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yeni kullanıcı oluşturma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Önceki uygulama parolası kayıt anahtarıdır.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Kullanıcı kendi adını ve şifresini belirler.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Kurtarma kodunu güvenli yerde saklar.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Tüm hesaplar aynı örnek verilere erişir.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51efd049941ed"/>
          <a:stretch xmlns:a="http://schemas.openxmlformats.org/drawingml/2006/main"/>
        </p:blipFill>
        <p:spPr>
          <a:xfrm xmlns:a="http://schemas.openxmlformats.org/drawingml/2006/main">
            <a:off x="6269069" y="1081574"/>
            <a:ext cx="5539740" cy="4231746"/>
          </a:xfrm>
          <a:prstGeom xmlns:a="http://schemas.openxmlformats.org/drawingml/2006/main" prst="rect">
            <a:avLst/>
          </a:prstGeom>
        </p:spPr>
      </p:pic>
      <p:sp>
        <p:nvSpPr>
          <p:cNvPr id="535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FE6DA278-87EC-487D-AFB8-9ACBD010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000">
                <a:solidFill>
                  <a:srgbClr val="FFFFFF"/>
                </a:solidFill>
                <a:latin typeface="Lora"/>
                <a:ea typeface="Lora"/>
                <a:cs typeface="Lora"/>
              </a:rPr>
              <a:t>Kişisel hesap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Finans RAG v2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6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000">
                <a:solidFill>
                  <a:srgbClr val="FFFFFF"/>
                </a:solidFill>
                <a:latin typeface="Lora"/>
                <a:ea typeface="Lora"/>
                <a:cs typeface="Lora"/>
              </a:rPr>
              <a:t>Şifre kurtarma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Kullanıcı adı ve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kurtarma kodu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Şifremi unuttum ekranı yeni şifre belirler.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Başarılı sıfırlama eski kodu iptal eder.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Diğer oturumlar sonraki işlemde yeniden giriş ister.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Kod da kayıpsa yerel yönetici hesabı sıfırlar.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3fae585684474"/>
          <a:stretch xmlns:a="http://schemas.openxmlformats.org/drawingml/2006/main"/>
        </p:blipFill>
        <p:spPr>
          <a:xfrm xmlns:a="http://schemas.openxmlformats.org/drawingml/2006/main">
            <a:off x="6269069" y="1081574"/>
            <a:ext cx="5539740" cy="42317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Finans RAG v2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7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000">
                <a:solidFill>
                  <a:srgbClr val="FFFFFF"/>
                </a:solidFill>
                <a:latin typeface="Lora"/>
                <a:ea typeface="Lora"/>
                <a:cs typeface="Lora"/>
              </a:rPr>
              <a:t>Finans ve mevzuat demosu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Hesaplama kodda,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hüküm kaynak metinde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Katalogdan hesap seçimi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Kasa / Bankalar oranı yaklaşık %1,11.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Brüt ticari alacak 22,5 milyon TL, net kayıt 20,4 milyon TL. Fark 2,1 milyon TL.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Kurgusal raporlama takviminde üçüncü çeyrek için son ay Ekim.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Kodla oran ve fark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Ayrı brüt ve net etiketleri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Belge ve bölüm kaynağı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Eksik bilgiyi açık belirtme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Finans RAG v2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8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000">
                <a:solidFill>
                  <a:srgbClr val="FFFFFF"/>
                </a:solidFill>
                <a:latin typeface="Lora"/>
                <a:ea typeface="Lora"/>
                <a:cs typeface="Lora"/>
              </a:rPr>
              <a:t>Doğrulama sonuçları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B4B4B4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B4B4B4"/>
                </a:solidFill>
                <a:latin typeface="Roboto"/>
                <a:ea typeface="Roboto"/>
                <a:cs typeface="Roboto"/>
              </a:rPr>
              <a:t>Sonuçlar farklı tarihlerdeki sürümlere aittir.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B4B4B4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B4B4B4"/>
                </a:solidFill>
                <a:latin typeface="Roboto"/>
                <a:ea typeface="Roboto"/>
                <a:cs typeface="Roboto"/>
              </a:rPr>
              <a:t>Testlerin geçmesi her doğal dil sorusunun doğru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B4B4B4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B4B4B4"/>
                </a:solidFill>
                <a:latin typeface="Roboto"/>
                <a:ea typeface="Roboto"/>
                <a:cs typeface="Roboto"/>
              </a:rPr>
              <a:t>yanıtlanacağını garanti etmez.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 spc="0">
                <a:ln>
                  <a:noFill/>
                </a:ln>
                <a:solidFill>
                  <a:srgbClr val="FF4305"/>
                </a:solidFill>
              </a:rPr>
              <a:t>101</a:t>
            </a:r>
            <a:endParaRPr sz="5500">
              <a:solidFill>
                <a:srgbClr val="FF4305"/>
              </a:solidFill>
            </a:endParaRP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17 Eylül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Otomatik kontroller geçti.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Hesap özelliğinden önce.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 spc="0">
                <a:ln>
                  <a:noFill/>
                </a:ln>
                <a:solidFill>
                  <a:srgbClr val="FF4305"/>
                </a:solidFill>
              </a:rPr>
              <a:t>13</a:t>
            </a:r>
            <a:endParaRPr sz="5500">
              <a:solidFill>
                <a:srgbClr val="FF4305"/>
              </a:solidFill>
            </a:endParaR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18 Eylül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Yeni hesap ve erişim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kontrolleri geçti.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 spc="0">
                <a:ln>
                  <a:noFill/>
                </a:ln>
                <a:solidFill>
                  <a:srgbClr val="FF4305"/>
                </a:solidFill>
              </a:rPr>
              <a:t>30</a:t>
            </a:r>
            <a:endParaRPr sz="5500">
              <a:solidFill>
                <a:srgbClr val="FF4305"/>
              </a:solidFill>
            </a:endParaRP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Son canlı akışta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kayıtlı cevap. Bazı hibrit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eksikler devam ediyor.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Finans RAG v2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9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000">
                <a:solidFill>
                  <a:srgbClr val="FFFFFF"/>
                </a:solidFill>
                <a:latin typeface="Lora"/>
                <a:ea typeface="Lora"/>
                <a:cs typeface="Lora"/>
              </a:rPr>
              <a:t>Mevcut sınırlar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Yanıt doğruluğu</a:t>
            </a:r>
            <a:endParaRPr sz="1800">
              <a:solidFill>
                <a:srgbClr val="FF4709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/>
            </a:r>
            <a:endParaRPr sz="1800"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Bazı hibrit takiplerde</a:t>
            </a:r>
            <a:endParaRPr sz="1800"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hesap bağlamı kaybı</a:t>
            </a:r>
            <a:endParaRPr sz="1800"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Genel sonuç ifadeleri</a:t>
            </a:r>
            <a:endParaRPr sz="1800"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İlgisiz ek kaynaklar</a:t>
            </a:r>
            <a:endParaRPr sz="1800"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Kurumsal kullanım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/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TLS ve ağ provası bekliyor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Rol bazlı yetki yok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MFA ve SSO yok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Yerel Git deposu hazır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94031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Veri ve kapsam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/>
            </a:r>
          </a:p>
          <a:p xmlns:a="http://schemas.openxmlformats.org/drawingml/2006/main">
            <a:pPr marL="0" indent="0">
              <a:buNone/>
            </a:pPr>
            <a:r>
              <a:t>CSV içe aktarma yok</a:t>
            </a:r>
            <a:endParaRPr/>
          </a:p>
          <a:p xmlns:a="http://schemas.openxmlformats.org/drawingml/2006/main">
            <a:pPr marL="0" indent="0">
              <a:buNone/>
            </a:pPr>
            <a:r>
              <a:t>Teknik ve idari veri eksik</a:t>
            </a:r>
            <a:endParaRPr/>
          </a:p>
          <a:p xmlns:a="http://schemas.openxmlformats.org/drawingml/2006/main">
            <a:pPr marL="0" indent="0">
              <a:buNone/>
            </a:pPr>
            <a:r>
              <a:t>Kesin uyum kararı yok</a:t>
            </a:r>
            <a:endParaRPr/>
          </a:p>
          <a:p xmlns:a="http://schemas.openxmlformats.org/drawingml/2006/main">
            <a:pPr marL="0" indent="0">
              <a:buNone/>
            </a:pPr>
            <a:r>
              <a:t>LangChain kabulü açık</a:t>
            </a:r>
            <a:endParaRPr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B4B4B4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B4B4B4"/>
                </a:solidFill>
                <a:latin typeface="Roboto"/>
                <a:ea typeface="Roboto"/>
                <a:cs typeface="Roboto"/>
              </a:rPr>
              <a:t>Kişisel hesap ve temel akışlar mevcut.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B4B4B4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B4B4B4"/>
                </a:solidFill>
                <a:latin typeface="Roboto"/>
                <a:ea typeface="Roboto"/>
                <a:cs typeface="Roboto"/>
              </a:rPr>
              <a:t>Tam föy uyumu ve üretim kullanımı için</a:t>
            </a:r>
            <a:endParaRPr sz="1800">
              <a:solidFill>
                <a:schemeClr val="bg1">
                  <a:lumMod val="65000"/>
                  <a:lumOff val="35000"/>
                </a:schemeClr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B4B4B4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B4B4B4"/>
                </a:solidFill>
                <a:latin typeface="Roboto"/>
                <a:ea typeface="Roboto"/>
                <a:cs typeface="Roboto"/>
              </a:rPr>
              <a:t>aşağıdaki başlıklar açık kalıyor.</a:t>
            </a:r>
            <a:endParaRPr sz="180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Finans RAG v2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10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000">
                <a:solidFill>
                  <a:srgbClr val="FFFFFF"/>
                </a:solidFill>
                <a:latin typeface="Lora"/>
                <a:ea typeface="Lora"/>
                <a:cs typeface="Lora"/>
              </a:rPr>
              <a:t>Demo akışı ve teslim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Yerel prototipin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çalışan akışı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Hesapla giriş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3111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Örnek hesapla giriş yapılır.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Mali tutar, oran ve brüt/net ayrımı gösterilir.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Mevzuat kaynağı açılır ve eksik teknik bilgi açıklanır.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Kaynak kodu, kılavuz, sunum ve kanıt dosyaları teslim edilir.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Mali soru ve takip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Mevzuat kaynağı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Eksik verinin sınırı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Çıkış ve teslim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theme/theme1.xml><?xml version="1.0" encoding="utf-8"?>
<a:theme xmlns:a="http://schemas.openxmlformats.org/drawingml/2006/main" name="Finans RAG Theme">
  <a:themeElements>
    <a:clrScheme name="Finans RAG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Finans RAG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/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>2026-09-18T07:10:27.2090000Z</ns2:created>
  <ns2:modified xsi:type="dcterms:W3CDTF">2026-09-18T07:10:27.2090000Z</ns2:modified>
</ns0:coreProperties>
</file>